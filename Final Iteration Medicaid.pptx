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71" r:id="rId4"/>
    <p:sldId id="272" r:id="rId5"/>
    <p:sldId id="290" r:id="rId6"/>
    <p:sldId id="291" r:id="rId7"/>
    <p:sldId id="270" r:id="rId8"/>
    <p:sldId id="277" r:id="rId9"/>
    <p:sldId id="303" r:id="rId10"/>
    <p:sldId id="306" r:id="rId11"/>
    <p:sldId id="266" r:id="rId12"/>
    <p:sldId id="267" r:id="rId13"/>
    <p:sldId id="279" r:id="rId14"/>
    <p:sldId id="300" r:id="rId15"/>
    <p:sldId id="282" r:id="rId16"/>
    <p:sldId id="284" r:id="rId17"/>
    <p:sldId id="283" r:id="rId18"/>
    <p:sldId id="298" r:id="rId19"/>
    <p:sldId id="285" r:id="rId20"/>
    <p:sldId id="294" r:id="rId21"/>
    <p:sldId id="301" r:id="rId22"/>
    <p:sldId id="296" r:id="rId23"/>
    <p:sldId id="293" r:id="rId24"/>
    <p:sldId id="304" r:id="rId25"/>
    <p:sldId id="30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650AC9-2DEA-8D72-B85D-9E23644564E3}" name="Yajat Mehta (Student)" initials="Y(" userId="S::ymehta9@sundevils.asu.edu::901379b4-c5a6-4757-9fce-00fa2827d0d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1358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6DA1A3-56D6-0279-BA63-A5740254DA8F}" v="22" dt="2026-05-08T06:38:07.713"/>
    <p1510:client id="{632FED48-7719-C541-90EC-15FD4239C50E}" v="305" dt="2026-05-08T07:12:04.661"/>
    <p1510:client id="{F6D7BB33-793D-B342-A4CC-86EF165AB509}" v="835" dt="2026-05-08T07:13:00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5"/>
    <p:restoredTop sz="94653"/>
  </p:normalViewPr>
  <p:slideViewPr>
    <p:cSldViewPr snapToGrid="0">
      <p:cViewPr varScale="1">
        <p:scale>
          <a:sx n="63" d="100"/>
          <a:sy n="63" d="100"/>
        </p:scale>
        <p:origin x="18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1260C6-0E9E-45CE-A2D6-081F7AA36A7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7889EF-17A5-474A-B2CB-55F80CF9B0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True cost drivers may be hidden or unmeasured</a:t>
          </a:r>
        </a:p>
      </dgm:t>
    </dgm:pt>
    <dgm:pt modelId="{52D5A95E-9805-4669-A9A7-7E644D71C50A}" type="parTrans" cxnId="{8090568C-7893-4C05-AD24-B9BDFCE4B612}">
      <dgm:prSet/>
      <dgm:spPr/>
      <dgm:t>
        <a:bodyPr/>
        <a:lstStyle/>
        <a:p>
          <a:endParaRPr lang="en-US"/>
        </a:p>
      </dgm:t>
    </dgm:pt>
    <dgm:pt modelId="{418E92CF-A164-475A-9C85-5690D0903A42}" type="sibTrans" cxnId="{8090568C-7893-4C05-AD24-B9BDFCE4B612}">
      <dgm:prSet/>
      <dgm:spPr/>
      <dgm:t>
        <a:bodyPr/>
        <a:lstStyle/>
        <a:p>
          <a:endParaRPr lang="en-US"/>
        </a:p>
      </dgm:t>
    </dgm:pt>
    <dgm:pt modelId="{92D86AC4-A9B8-46C0-AD3C-699D944214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quality issues such as missing or inconsistent records </a:t>
          </a:r>
        </a:p>
      </dgm:t>
    </dgm:pt>
    <dgm:pt modelId="{B421E62E-34EA-45A0-97DE-A276FF7CAA12}" type="parTrans" cxnId="{E8AC7A06-7821-4425-9CE7-55520845D639}">
      <dgm:prSet/>
      <dgm:spPr/>
      <dgm:t>
        <a:bodyPr/>
        <a:lstStyle/>
        <a:p>
          <a:endParaRPr lang="en-US"/>
        </a:p>
      </dgm:t>
    </dgm:pt>
    <dgm:pt modelId="{1CA0FE0C-F528-4B6D-BC2B-2C8E381E7560}" type="sibTrans" cxnId="{E8AC7A06-7821-4425-9CE7-55520845D639}">
      <dgm:prSet/>
      <dgm:spPr/>
      <dgm:t>
        <a:bodyPr/>
        <a:lstStyle/>
        <a:p>
          <a:endParaRPr lang="en-US"/>
        </a:p>
      </dgm:t>
    </dgm:pt>
    <dgm:pt modelId="{D839DA4F-6E36-4765-B85C-A5041AF28E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Complex integration between Medicaid and FDA datasets </a:t>
          </a:r>
        </a:p>
      </dgm:t>
    </dgm:pt>
    <dgm:pt modelId="{92BCBAF3-1965-4EA9-8D02-AEACD4ED267F}" type="parTrans" cxnId="{0611E50B-19D2-4E18-8B8F-3F6FCC11CD5F}">
      <dgm:prSet/>
      <dgm:spPr/>
      <dgm:t>
        <a:bodyPr/>
        <a:lstStyle/>
        <a:p>
          <a:endParaRPr lang="en-US"/>
        </a:p>
      </dgm:t>
    </dgm:pt>
    <dgm:pt modelId="{51378D06-C413-4211-939A-6AA9E89014F4}" type="sibTrans" cxnId="{0611E50B-19D2-4E18-8B8F-3F6FCC11CD5F}">
      <dgm:prSet/>
      <dgm:spPr/>
      <dgm:t>
        <a:bodyPr/>
        <a:lstStyle/>
        <a:p>
          <a:endParaRPr lang="en-US"/>
        </a:p>
      </dgm:t>
    </dgm:pt>
    <dgm:pt modelId="{943E5083-8CF5-4B31-BD72-2064E2ECE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data volume requiring efficient processing </a:t>
          </a:r>
        </a:p>
      </dgm:t>
    </dgm:pt>
    <dgm:pt modelId="{18B0335F-B1A9-431D-992B-5C81B7CF5309}" type="parTrans" cxnId="{127696A4-2239-4785-B314-EE9FF35B5A5C}">
      <dgm:prSet/>
      <dgm:spPr/>
      <dgm:t>
        <a:bodyPr/>
        <a:lstStyle/>
        <a:p>
          <a:endParaRPr lang="en-US"/>
        </a:p>
      </dgm:t>
    </dgm:pt>
    <dgm:pt modelId="{55BC81BC-6786-4B1C-8FE2-91F472616E10}" type="sibTrans" cxnId="{127696A4-2239-4785-B314-EE9FF35B5A5C}">
      <dgm:prSet/>
      <dgm:spPr/>
      <dgm:t>
        <a:bodyPr/>
        <a:lstStyle/>
        <a:p>
          <a:endParaRPr lang="en-US"/>
        </a:p>
      </dgm:t>
    </dgm:pt>
    <dgm:pt modelId="{9E6A8242-4E3F-479A-8512-97874553A6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Difficulty mapping drugs into clear therapeutic classes </a:t>
          </a:r>
        </a:p>
      </dgm:t>
    </dgm:pt>
    <dgm:pt modelId="{1759E988-D845-4742-97A5-7CC4EB3B9552}" type="parTrans" cxnId="{01F3B252-2404-4312-BBE5-986D0119A168}">
      <dgm:prSet/>
      <dgm:spPr/>
      <dgm:t>
        <a:bodyPr/>
        <a:lstStyle/>
        <a:p>
          <a:endParaRPr lang="en-US"/>
        </a:p>
      </dgm:t>
    </dgm:pt>
    <dgm:pt modelId="{F57C7956-A525-4141-9D8E-5B1A09BAFB3A}" type="sibTrans" cxnId="{01F3B252-2404-4312-BBE5-986D0119A168}">
      <dgm:prSet/>
      <dgm:spPr/>
      <dgm:t>
        <a:bodyPr/>
        <a:lstStyle/>
        <a:p>
          <a:endParaRPr lang="en-US"/>
        </a:p>
      </dgm:t>
    </dgm:pt>
    <dgm:pt modelId="{408DFD80-350E-4D9C-86C1-28E63023C4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Challenges isolating true cost drivers beyond total spending</a:t>
          </a:r>
        </a:p>
      </dgm:t>
    </dgm:pt>
    <dgm:pt modelId="{63FFBC32-D3C7-4D1F-8E3C-A38BD5FC35D4}" type="parTrans" cxnId="{91CA23F2-2B3C-4BA8-B63A-9C53152F543A}">
      <dgm:prSet/>
      <dgm:spPr/>
      <dgm:t>
        <a:bodyPr/>
        <a:lstStyle/>
        <a:p>
          <a:endParaRPr lang="en-US"/>
        </a:p>
      </dgm:t>
    </dgm:pt>
    <dgm:pt modelId="{D39C1DC5-0DF4-4186-8A25-DA706C716FC9}" type="sibTrans" cxnId="{91CA23F2-2B3C-4BA8-B63A-9C53152F543A}">
      <dgm:prSet/>
      <dgm:spPr/>
      <dgm:t>
        <a:bodyPr/>
        <a:lstStyle/>
        <a:p>
          <a:endParaRPr lang="en-US"/>
        </a:p>
      </dgm:t>
    </dgm:pt>
    <dgm:pt modelId="{E9099B57-2C58-4A7F-8A6A-F0CD8DD018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Regional and temporal variability complicates trend analysis</a:t>
          </a:r>
        </a:p>
      </dgm:t>
    </dgm:pt>
    <dgm:pt modelId="{4F3EB874-A03E-42E4-AAEF-BD0609D508D8}" type="parTrans" cxnId="{B4299A66-13AA-4752-AADE-9FF6F814F522}">
      <dgm:prSet/>
      <dgm:spPr/>
      <dgm:t>
        <a:bodyPr/>
        <a:lstStyle/>
        <a:p>
          <a:endParaRPr lang="en-US"/>
        </a:p>
      </dgm:t>
    </dgm:pt>
    <dgm:pt modelId="{61AC53D7-0CCE-45C8-B1DF-582984277D62}" type="sibTrans" cxnId="{B4299A66-13AA-4752-AADE-9FF6F814F522}">
      <dgm:prSet/>
      <dgm:spPr/>
      <dgm:t>
        <a:bodyPr/>
        <a:lstStyle/>
        <a:p>
          <a:endParaRPr lang="en-US"/>
        </a:p>
      </dgm:t>
    </dgm:pt>
    <dgm:pt modelId="{2D6015DC-0123-44A8-A122-AC75951489B0}" type="pres">
      <dgm:prSet presAssocID="{121260C6-0E9E-45CE-A2D6-081F7AA36A74}" presName="root" presStyleCnt="0">
        <dgm:presLayoutVars>
          <dgm:dir/>
          <dgm:resizeHandles val="exact"/>
        </dgm:presLayoutVars>
      </dgm:prSet>
      <dgm:spPr/>
    </dgm:pt>
    <dgm:pt modelId="{E922D195-829A-431A-A33F-9DEA5DDC2D4A}" type="pres">
      <dgm:prSet presAssocID="{F67889EF-17A5-474A-B2CB-55F80CF9B071}" presName="compNode" presStyleCnt="0"/>
      <dgm:spPr/>
    </dgm:pt>
    <dgm:pt modelId="{40B5C3E9-8E5B-40BE-9F54-4E0ACF66A88E}" type="pres">
      <dgm:prSet presAssocID="{F67889EF-17A5-474A-B2CB-55F80CF9B071}" presName="bgRect" presStyleLbl="bgShp" presStyleIdx="0" presStyleCnt="7"/>
      <dgm:spPr/>
    </dgm:pt>
    <dgm:pt modelId="{5263F1EA-7BEA-4F6D-8261-676F19D48FF3}" type="pres">
      <dgm:prSet presAssocID="{F67889EF-17A5-474A-B2CB-55F80CF9B07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1E07F63-3CDB-4F3F-895B-4D443D2EBCDD}" type="pres">
      <dgm:prSet presAssocID="{F67889EF-17A5-474A-B2CB-55F80CF9B071}" presName="spaceRect" presStyleCnt="0"/>
      <dgm:spPr/>
    </dgm:pt>
    <dgm:pt modelId="{D89AC9D6-46C2-4A78-B457-16EB81EE8E26}" type="pres">
      <dgm:prSet presAssocID="{F67889EF-17A5-474A-B2CB-55F80CF9B071}" presName="parTx" presStyleLbl="revTx" presStyleIdx="0" presStyleCnt="7">
        <dgm:presLayoutVars>
          <dgm:chMax val="0"/>
          <dgm:chPref val="0"/>
        </dgm:presLayoutVars>
      </dgm:prSet>
      <dgm:spPr/>
    </dgm:pt>
    <dgm:pt modelId="{BFAF6CEE-7543-4272-83FF-8FD1EB1515B2}" type="pres">
      <dgm:prSet presAssocID="{418E92CF-A164-475A-9C85-5690D0903A42}" presName="sibTrans" presStyleCnt="0"/>
      <dgm:spPr/>
    </dgm:pt>
    <dgm:pt modelId="{0318C1EC-8F05-4CBF-9D17-0424F155DB4F}" type="pres">
      <dgm:prSet presAssocID="{92D86AC4-A9B8-46C0-AD3C-699D944214C5}" presName="compNode" presStyleCnt="0"/>
      <dgm:spPr/>
    </dgm:pt>
    <dgm:pt modelId="{90DD7F65-5863-45B6-9C84-602C27C139D4}" type="pres">
      <dgm:prSet presAssocID="{92D86AC4-A9B8-46C0-AD3C-699D944214C5}" presName="bgRect" presStyleLbl="bgShp" presStyleIdx="1" presStyleCnt="7"/>
      <dgm:spPr/>
    </dgm:pt>
    <dgm:pt modelId="{7B8ED0E6-4E42-4C6A-B551-27D896EF2D1E}" type="pres">
      <dgm:prSet presAssocID="{92D86AC4-A9B8-46C0-AD3C-699D944214C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5D756E3-858A-476B-AD07-30409A7BE123}" type="pres">
      <dgm:prSet presAssocID="{92D86AC4-A9B8-46C0-AD3C-699D944214C5}" presName="spaceRect" presStyleCnt="0"/>
      <dgm:spPr/>
    </dgm:pt>
    <dgm:pt modelId="{481770D7-7D4C-4868-8AAA-55AEEC8D3CC6}" type="pres">
      <dgm:prSet presAssocID="{92D86AC4-A9B8-46C0-AD3C-699D944214C5}" presName="parTx" presStyleLbl="revTx" presStyleIdx="1" presStyleCnt="7">
        <dgm:presLayoutVars>
          <dgm:chMax val="0"/>
          <dgm:chPref val="0"/>
        </dgm:presLayoutVars>
      </dgm:prSet>
      <dgm:spPr/>
    </dgm:pt>
    <dgm:pt modelId="{39A463E6-BD4C-4A8A-AB1E-3E2C04C15270}" type="pres">
      <dgm:prSet presAssocID="{1CA0FE0C-F528-4B6D-BC2B-2C8E381E7560}" presName="sibTrans" presStyleCnt="0"/>
      <dgm:spPr/>
    </dgm:pt>
    <dgm:pt modelId="{64612806-9984-4BA7-96F5-4F5E19D31731}" type="pres">
      <dgm:prSet presAssocID="{D839DA4F-6E36-4765-B85C-A5041AF28E61}" presName="compNode" presStyleCnt="0"/>
      <dgm:spPr/>
    </dgm:pt>
    <dgm:pt modelId="{1D2B82DE-75F5-4A8B-BAEC-35560C1DF188}" type="pres">
      <dgm:prSet presAssocID="{D839DA4F-6E36-4765-B85C-A5041AF28E61}" presName="bgRect" presStyleLbl="bgShp" presStyleIdx="2" presStyleCnt="7"/>
      <dgm:spPr/>
    </dgm:pt>
    <dgm:pt modelId="{30850B46-63A7-49C3-98D5-A538476F872D}" type="pres">
      <dgm:prSet presAssocID="{D839DA4F-6E36-4765-B85C-A5041AF28E61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71316D8-011A-4A64-80D3-0D2F9081EB8D}" type="pres">
      <dgm:prSet presAssocID="{D839DA4F-6E36-4765-B85C-A5041AF28E61}" presName="spaceRect" presStyleCnt="0"/>
      <dgm:spPr/>
    </dgm:pt>
    <dgm:pt modelId="{27184C39-F8EE-4AA4-A5D8-B883D9667DAD}" type="pres">
      <dgm:prSet presAssocID="{D839DA4F-6E36-4765-B85C-A5041AF28E61}" presName="parTx" presStyleLbl="revTx" presStyleIdx="2" presStyleCnt="7">
        <dgm:presLayoutVars>
          <dgm:chMax val="0"/>
          <dgm:chPref val="0"/>
        </dgm:presLayoutVars>
      </dgm:prSet>
      <dgm:spPr/>
    </dgm:pt>
    <dgm:pt modelId="{95C9F733-DD4C-4EFE-A49B-ECA4FEEB4A79}" type="pres">
      <dgm:prSet presAssocID="{51378D06-C413-4211-939A-6AA9E89014F4}" presName="sibTrans" presStyleCnt="0"/>
      <dgm:spPr/>
    </dgm:pt>
    <dgm:pt modelId="{E524F8BE-806F-45CD-BED1-F27EDBD9E28D}" type="pres">
      <dgm:prSet presAssocID="{943E5083-8CF5-4B31-BD72-2064E2ECE9D2}" presName="compNode" presStyleCnt="0"/>
      <dgm:spPr/>
    </dgm:pt>
    <dgm:pt modelId="{9CAC829C-7CAE-4585-9A60-87A7D930F10B}" type="pres">
      <dgm:prSet presAssocID="{943E5083-8CF5-4B31-BD72-2064E2ECE9D2}" presName="bgRect" presStyleLbl="bgShp" presStyleIdx="3" presStyleCnt="7" custLinFactNeighborX="2319" custLinFactNeighborY="3626"/>
      <dgm:spPr/>
    </dgm:pt>
    <dgm:pt modelId="{BC9F81D6-337D-4947-970A-3AAAC2E8ABCE}" type="pres">
      <dgm:prSet presAssocID="{943E5083-8CF5-4B31-BD72-2064E2ECE9D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4C57E58-0104-4104-B15F-C8BF42F2028F}" type="pres">
      <dgm:prSet presAssocID="{943E5083-8CF5-4B31-BD72-2064E2ECE9D2}" presName="spaceRect" presStyleCnt="0"/>
      <dgm:spPr/>
    </dgm:pt>
    <dgm:pt modelId="{9E54183F-0A9F-45F3-89E0-2F0A0AA3EDFB}" type="pres">
      <dgm:prSet presAssocID="{943E5083-8CF5-4B31-BD72-2064E2ECE9D2}" presName="parTx" presStyleLbl="revTx" presStyleIdx="3" presStyleCnt="7">
        <dgm:presLayoutVars>
          <dgm:chMax val="0"/>
          <dgm:chPref val="0"/>
        </dgm:presLayoutVars>
      </dgm:prSet>
      <dgm:spPr/>
    </dgm:pt>
    <dgm:pt modelId="{CE7AA7BA-9741-4ED4-942F-B54F7AB39D83}" type="pres">
      <dgm:prSet presAssocID="{55BC81BC-6786-4B1C-8FE2-91F472616E10}" presName="sibTrans" presStyleCnt="0"/>
      <dgm:spPr/>
    </dgm:pt>
    <dgm:pt modelId="{D5AB83F2-63A7-4BC5-B021-B42F9BF80177}" type="pres">
      <dgm:prSet presAssocID="{9E6A8242-4E3F-479A-8512-97874553A635}" presName="compNode" presStyleCnt="0"/>
      <dgm:spPr/>
    </dgm:pt>
    <dgm:pt modelId="{6F045D5F-8FA6-4816-858F-8EE4E9FEA92D}" type="pres">
      <dgm:prSet presAssocID="{9E6A8242-4E3F-479A-8512-97874553A635}" presName="bgRect" presStyleLbl="bgShp" presStyleIdx="4" presStyleCnt="7"/>
      <dgm:spPr/>
    </dgm:pt>
    <dgm:pt modelId="{9F664EEC-AA1B-496B-826D-B66468F3AFBB}" type="pres">
      <dgm:prSet presAssocID="{9E6A8242-4E3F-479A-8512-97874553A635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E1FC744B-5B1B-4129-BA43-8E6C474829CC}" type="pres">
      <dgm:prSet presAssocID="{9E6A8242-4E3F-479A-8512-97874553A635}" presName="spaceRect" presStyleCnt="0"/>
      <dgm:spPr/>
    </dgm:pt>
    <dgm:pt modelId="{A28BBD41-FD86-4ABC-9108-DFE86727F3CC}" type="pres">
      <dgm:prSet presAssocID="{9E6A8242-4E3F-479A-8512-97874553A635}" presName="parTx" presStyleLbl="revTx" presStyleIdx="4" presStyleCnt="7">
        <dgm:presLayoutVars>
          <dgm:chMax val="0"/>
          <dgm:chPref val="0"/>
        </dgm:presLayoutVars>
      </dgm:prSet>
      <dgm:spPr/>
    </dgm:pt>
    <dgm:pt modelId="{592E061C-2CB5-4137-8155-C1F3B88F7AA0}" type="pres">
      <dgm:prSet presAssocID="{F57C7956-A525-4141-9D8E-5B1A09BAFB3A}" presName="sibTrans" presStyleCnt="0"/>
      <dgm:spPr/>
    </dgm:pt>
    <dgm:pt modelId="{A04ACF5F-D9A0-4E33-AF61-B22BCCC3DA49}" type="pres">
      <dgm:prSet presAssocID="{408DFD80-350E-4D9C-86C1-28E63023C407}" presName="compNode" presStyleCnt="0"/>
      <dgm:spPr/>
    </dgm:pt>
    <dgm:pt modelId="{99A55236-43D5-44FE-B56C-C5CCAF1C06E1}" type="pres">
      <dgm:prSet presAssocID="{408DFD80-350E-4D9C-86C1-28E63023C407}" presName="bgRect" presStyleLbl="bgShp" presStyleIdx="5" presStyleCnt="7"/>
      <dgm:spPr/>
    </dgm:pt>
    <dgm:pt modelId="{C60B1B1B-2AF1-4913-931D-1B7F30762BEA}" type="pres">
      <dgm:prSet presAssocID="{408DFD80-350E-4D9C-86C1-28E63023C407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DEA0238-7EEF-479C-AA75-2E1E894104FB}" type="pres">
      <dgm:prSet presAssocID="{408DFD80-350E-4D9C-86C1-28E63023C407}" presName="spaceRect" presStyleCnt="0"/>
      <dgm:spPr/>
    </dgm:pt>
    <dgm:pt modelId="{D940568C-7B98-4E3E-A8A8-6CBFE0D769A2}" type="pres">
      <dgm:prSet presAssocID="{408DFD80-350E-4D9C-86C1-28E63023C407}" presName="parTx" presStyleLbl="revTx" presStyleIdx="5" presStyleCnt="7">
        <dgm:presLayoutVars>
          <dgm:chMax val="0"/>
          <dgm:chPref val="0"/>
        </dgm:presLayoutVars>
      </dgm:prSet>
      <dgm:spPr/>
    </dgm:pt>
    <dgm:pt modelId="{DDB53409-C78D-44BF-897B-9A63EFE20B70}" type="pres">
      <dgm:prSet presAssocID="{D39C1DC5-0DF4-4186-8A25-DA706C716FC9}" presName="sibTrans" presStyleCnt="0"/>
      <dgm:spPr/>
    </dgm:pt>
    <dgm:pt modelId="{CB8030FD-C54E-4E50-ABF9-D5BA06644A8A}" type="pres">
      <dgm:prSet presAssocID="{E9099B57-2C58-4A7F-8A6A-F0CD8DD018D3}" presName="compNode" presStyleCnt="0"/>
      <dgm:spPr/>
    </dgm:pt>
    <dgm:pt modelId="{7CED1D2E-4F59-4E50-95C0-F30BAB1BF13A}" type="pres">
      <dgm:prSet presAssocID="{E9099B57-2C58-4A7F-8A6A-F0CD8DD018D3}" presName="bgRect" presStyleLbl="bgShp" presStyleIdx="6" presStyleCnt="7"/>
      <dgm:spPr/>
    </dgm:pt>
    <dgm:pt modelId="{09399B6E-FD7D-4A2F-BCE2-54408CE20E2C}" type="pres">
      <dgm:prSet presAssocID="{E9099B57-2C58-4A7F-8A6A-F0CD8DD018D3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BB9C81DC-F244-4BE5-8905-5BCB6752D49E}" type="pres">
      <dgm:prSet presAssocID="{E9099B57-2C58-4A7F-8A6A-F0CD8DD018D3}" presName="spaceRect" presStyleCnt="0"/>
      <dgm:spPr/>
    </dgm:pt>
    <dgm:pt modelId="{89481298-7C90-4240-9B82-0A8DCACA0B0E}" type="pres">
      <dgm:prSet presAssocID="{E9099B57-2C58-4A7F-8A6A-F0CD8DD018D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8AC7A06-7821-4425-9CE7-55520845D639}" srcId="{121260C6-0E9E-45CE-A2D6-081F7AA36A74}" destId="{92D86AC4-A9B8-46C0-AD3C-699D944214C5}" srcOrd="1" destOrd="0" parTransId="{B421E62E-34EA-45A0-97DE-A276FF7CAA12}" sibTransId="{1CA0FE0C-F528-4B6D-BC2B-2C8E381E7560}"/>
    <dgm:cxn modelId="{0611E50B-19D2-4E18-8B8F-3F6FCC11CD5F}" srcId="{121260C6-0E9E-45CE-A2D6-081F7AA36A74}" destId="{D839DA4F-6E36-4765-B85C-A5041AF28E61}" srcOrd="2" destOrd="0" parTransId="{92BCBAF3-1965-4EA9-8D02-AEACD4ED267F}" sibTransId="{51378D06-C413-4211-939A-6AA9E89014F4}"/>
    <dgm:cxn modelId="{4AB3CD3E-32DF-41D5-98A3-FE7C9C1AB7DE}" type="presOf" srcId="{408DFD80-350E-4D9C-86C1-28E63023C407}" destId="{D940568C-7B98-4E3E-A8A8-6CBFE0D769A2}" srcOrd="0" destOrd="0" presId="urn:microsoft.com/office/officeart/2018/2/layout/IconVerticalSolidList"/>
    <dgm:cxn modelId="{31F6134C-7D0B-4F36-853F-27B0ADCE5481}" type="presOf" srcId="{9E6A8242-4E3F-479A-8512-97874553A635}" destId="{A28BBD41-FD86-4ABC-9108-DFE86727F3CC}" srcOrd="0" destOrd="0" presId="urn:microsoft.com/office/officeart/2018/2/layout/IconVerticalSolidList"/>
    <dgm:cxn modelId="{01F3B252-2404-4312-BBE5-986D0119A168}" srcId="{121260C6-0E9E-45CE-A2D6-081F7AA36A74}" destId="{9E6A8242-4E3F-479A-8512-97874553A635}" srcOrd="4" destOrd="0" parTransId="{1759E988-D845-4742-97A5-7CC4EB3B9552}" sibTransId="{F57C7956-A525-4141-9D8E-5B1A09BAFB3A}"/>
    <dgm:cxn modelId="{19069E5C-14A8-42D1-B142-419E765D5E99}" type="presOf" srcId="{D839DA4F-6E36-4765-B85C-A5041AF28E61}" destId="{27184C39-F8EE-4AA4-A5D8-B883D9667DAD}" srcOrd="0" destOrd="0" presId="urn:microsoft.com/office/officeart/2018/2/layout/IconVerticalSolidList"/>
    <dgm:cxn modelId="{B4299A66-13AA-4752-AADE-9FF6F814F522}" srcId="{121260C6-0E9E-45CE-A2D6-081F7AA36A74}" destId="{E9099B57-2C58-4A7F-8A6A-F0CD8DD018D3}" srcOrd="6" destOrd="0" parTransId="{4F3EB874-A03E-42E4-AAEF-BD0609D508D8}" sibTransId="{61AC53D7-0CCE-45C8-B1DF-582984277D62}"/>
    <dgm:cxn modelId="{8090568C-7893-4C05-AD24-B9BDFCE4B612}" srcId="{121260C6-0E9E-45CE-A2D6-081F7AA36A74}" destId="{F67889EF-17A5-474A-B2CB-55F80CF9B071}" srcOrd="0" destOrd="0" parTransId="{52D5A95E-9805-4669-A9A7-7E644D71C50A}" sibTransId="{418E92CF-A164-475A-9C85-5690D0903A42}"/>
    <dgm:cxn modelId="{A4164C93-7DC1-4555-9822-94180CACE418}" type="presOf" srcId="{F67889EF-17A5-474A-B2CB-55F80CF9B071}" destId="{D89AC9D6-46C2-4A78-B457-16EB81EE8E26}" srcOrd="0" destOrd="0" presId="urn:microsoft.com/office/officeart/2018/2/layout/IconVerticalSolidList"/>
    <dgm:cxn modelId="{127696A4-2239-4785-B314-EE9FF35B5A5C}" srcId="{121260C6-0E9E-45CE-A2D6-081F7AA36A74}" destId="{943E5083-8CF5-4B31-BD72-2064E2ECE9D2}" srcOrd="3" destOrd="0" parTransId="{18B0335F-B1A9-431D-992B-5C81B7CF5309}" sibTransId="{55BC81BC-6786-4B1C-8FE2-91F472616E10}"/>
    <dgm:cxn modelId="{CC8720C2-3A24-4B3E-8F72-181ABE84FC5E}" type="presOf" srcId="{92D86AC4-A9B8-46C0-AD3C-699D944214C5}" destId="{481770D7-7D4C-4868-8AAA-55AEEC8D3CC6}" srcOrd="0" destOrd="0" presId="urn:microsoft.com/office/officeart/2018/2/layout/IconVerticalSolidList"/>
    <dgm:cxn modelId="{8320DEE4-1BB1-43EA-819F-8429030F0358}" type="presOf" srcId="{E9099B57-2C58-4A7F-8A6A-F0CD8DD018D3}" destId="{89481298-7C90-4240-9B82-0A8DCACA0B0E}" srcOrd="0" destOrd="0" presId="urn:microsoft.com/office/officeart/2018/2/layout/IconVerticalSolidList"/>
    <dgm:cxn modelId="{B785E6F1-D947-4B83-87C8-888CA0EEFBA3}" type="presOf" srcId="{121260C6-0E9E-45CE-A2D6-081F7AA36A74}" destId="{2D6015DC-0123-44A8-A122-AC75951489B0}" srcOrd="0" destOrd="0" presId="urn:microsoft.com/office/officeart/2018/2/layout/IconVerticalSolidList"/>
    <dgm:cxn modelId="{91CA23F2-2B3C-4BA8-B63A-9C53152F543A}" srcId="{121260C6-0E9E-45CE-A2D6-081F7AA36A74}" destId="{408DFD80-350E-4D9C-86C1-28E63023C407}" srcOrd="5" destOrd="0" parTransId="{63FFBC32-D3C7-4D1F-8E3C-A38BD5FC35D4}" sibTransId="{D39C1DC5-0DF4-4186-8A25-DA706C716FC9}"/>
    <dgm:cxn modelId="{C1F721F7-26EB-45C2-A6BA-AF238B2F1B9A}" type="presOf" srcId="{943E5083-8CF5-4B31-BD72-2064E2ECE9D2}" destId="{9E54183F-0A9F-45F3-89E0-2F0A0AA3EDFB}" srcOrd="0" destOrd="0" presId="urn:microsoft.com/office/officeart/2018/2/layout/IconVerticalSolidList"/>
    <dgm:cxn modelId="{90C4A6CE-6A13-4FA2-9ECD-9B6597061D6D}" type="presParOf" srcId="{2D6015DC-0123-44A8-A122-AC75951489B0}" destId="{E922D195-829A-431A-A33F-9DEA5DDC2D4A}" srcOrd="0" destOrd="0" presId="urn:microsoft.com/office/officeart/2018/2/layout/IconVerticalSolidList"/>
    <dgm:cxn modelId="{6E92B2EE-BC9B-42C6-885D-0313E348D257}" type="presParOf" srcId="{E922D195-829A-431A-A33F-9DEA5DDC2D4A}" destId="{40B5C3E9-8E5B-40BE-9F54-4E0ACF66A88E}" srcOrd="0" destOrd="0" presId="urn:microsoft.com/office/officeart/2018/2/layout/IconVerticalSolidList"/>
    <dgm:cxn modelId="{91488DD4-C858-4191-AE5F-2B16D74F831A}" type="presParOf" srcId="{E922D195-829A-431A-A33F-9DEA5DDC2D4A}" destId="{5263F1EA-7BEA-4F6D-8261-676F19D48FF3}" srcOrd="1" destOrd="0" presId="urn:microsoft.com/office/officeart/2018/2/layout/IconVerticalSolidList"/>
    <dgm:cxn modelId="{5E7FB010-4AF8-48C3-805F-4BEFEBD00C35}" type="presParOf" srcId="{E922D195-829A-431A-A33F-9DEA5DDC2D4A}" destId="{61E07F63-3CDB-4F3F-895B-4D443D2EBCDD}" srcOrd="2" destOrd="0" presId="urn:microsoft.com/office/officeart/2018/2/layout/IconVerticalSolidList"/>
    <dgm:cxn modelId="{0E6F9C04-28AD-491C-A640-375780D784E4}" type="presParOf" srcId="{E922D195-829A-431A-A33F-9DEA5DDC2D4A}" destId="{D89AC9D6-46C2-4A78-B457-16EB81EE8E26}" srcOrd="3" destOrd="0" presId="urn:microsoft.com/office/officeart/2018/2/layout/IconVerticalSolidList"/>
    <dgm:cxn modelId="{0CC05D10-9F62-4BFF-A28E-31E1F4BF550C}" type="presParOf" srcId="{2D6015DC-0123-44A8-A122-AC75951489B0}" destId="{BFAF6CEE-7543-4272-83FF-8FD1EB1515B2}" srcOrd="1" destOrd="0" presId="urn:microsoft.com/office/officeart/2018/2/layout/IconVerticalSolidList"/>
    <dgm:cxn modelId="{A1F2870B-73E7-4A7E-BCDD-BA499F2614FE}" type="presParOf" srcId="{2D6015DC-0123-44A8-A122-AC75951489B0}" destId="{0318C1EC-8F05-4CBF-9D17-0424F155DB4F}" srcOrd="2" destOrd="0" presId="urn:microsoft.com/office/officeart/2018/2/layout/IconVerticalSolidList"/>
    <dgm:cxn modelId="{3369CE8A-F399-406F-A5A9-83BAB6F4656E}" type="presParOf" srcId="{0318C1EC-8F05-4CBF-9D17-0424F155DB4F}" destId="{90DD7F65-5863-45B6-9C84-602C27C139D4}" srcOrd="0" destOrd="0" presId="urn:microsoft.com/office/officeart/2018/2/layout/IconVerticalSolidList"/>
    <dgm:cxn modelId="{17738E73-B773-4C50-AAFA-07968AA03153}" type="presParOf" srcId="{0318C1EC-8F05-4CBF-9D17-0424F155DB4F}" destId="{7B8ED0E6-4E42-4C6A-B551-27D896EF2D1E}" srcOrd="1" destOrd="0" presId="urn:microsoft.com/office/officeart/2018/2/layout/IconVerticalSolidList"/>
    <dgm:cxn modelId="{A377D24C-A9F2-41F2-9498-2C0750ED6731}" type="presParOf" srcId="{0318C1EC-8F05-4CBF-9D17-0424F155DB4F}" destId="{A5D756E3-858A-476B-AD07-30409A7BE123}" srcOrd="2" destOrd="0" presId="urn:microsoft.com/office/officeart/2018/2/layout/IconVerticalSolidList"/>
    <dgm:cxn modelId="{ACDA28D9-45D1-4124-9D36-A13D7A8BF22A}" type="presParOf" srcId="{0318C1EC-8F05-4CBF-9D17-0424F155DB4F}" destId="{481770D7-7D4C-4868-8AAA-55AEEC8D3CC6}" srcOrd="3" destOrd="0" presId="urn:microsoft.com/office/officeart/2018/2/layout/IconVerticalSolidList"/>
    <dgm:cxn modelId="{F69DE7F8-CDCB-45DB-8DF1-00184763259C}" type="presParOf" srcId="{2D6015DC-0123-44A8-A122-AC75951489B0}" destId="{39A463E6-BD4C-4A8A-AB1E-3E2C04C15270}" srcOrd="3" destOrd="0" presId="urn:microsoft.com/office/officeart/2018/2/layout/IconVerticalSolidList"/>
    <dgm:cxn modelId="{91990617-4608-454A-9157-0E5879190DCA}" type="presParOf" srcId="{2D6015DC-0123-44A8-A122-AC75951489B0}" destId="{64612806-9984-4BA7-96F5-4F5E19D31731}" srcOrd="4" destOrd="0" presId="urn:microsoft.com/office/officeart/2018/2/layout/IconVerticalSolidList"/>
    <dgm:cxn modelId="{FC167319-63CE-4E55-9E13-DF386204DCA2}" type="presParOf" srcId="{64612806-9984-4BA7-96F5-4F5E19D31731}" destId="{1D2B82DE-75F5-4A8B-BAEC-35560C1DF188}" srcOrd="0" destOrd="0" presId="urn:microsoft.com/office/officeart/2018/2/layout/IconVerticalSolidList"/>
    <dgm:cxn modelId="{554C6EBE-B7AC-4D14-8DB2-0AC21BE99459}" type="presParOf" srcId="{64612806-9984-4BA7-96F5-4F5E19D31731}" destId="{30850B46-63A7-49C3-98D5-A538476F872D}" srcOrd="1" destOrd="0" presId="urn:microsoft.com/office/officeart/2018/2/layout/IconVerticalSolidList"/>
    <dgm:cxn modelId="{E672E71F-1433-4953-A12B-0E4FBDDD7FFD}" type="presParOf" srcId="{64612806-9984-4BA7-96F5-4F5E19D31731}" destId="{371316D8-011A-4A64-80D3-0D2F9081EB8D}" srcOrd="2" destOrd="0" presId="urn:microsoft.com/office/officeart/2018/2/layout/IconVerticalSolidList"/>
    <dgm:cxn modelId="{BA9EC332-8136-449B-83B9-230F2E47F0DA}" type="presParOf" srcId="{64612806-9984-4BA7-96F5-4F5E19D31731}" destId="{27184C39-F8EE-4AA4-A5D8-B883D9667DAD}" srcOrd="3" destOrd="0" presId="urn:microsoft.com/office/officeart/2018/2/layout/IconVerticalSolidList"/>
    <dgm:cxn modelId="{1FAEA263-02FD-4430-A234-21981E2CE810}" type="presParOf" srcId="{2D6015DC-0123-44A8-A122-AC75951489B0}" destId="{95C9F733-DD4C-4EFE-A49B-ECA4FEEB4A79}" srcOrd="5" destOrd="0" presId="urn:microsoft.com/office/officeart/2018/2/layout/IconVerticalSolidList"/>
    <dgm:cxn modelId="{1A1164D7-F1AE-435F-93D4-AEB499A74EAC}" type="presParOf" srcId="{2D6015DC-0123-44A8-A122-AC75951489B0}" destId="{E524F8BE-806F-45CD-BED1-F27EDBD9E28D}" srcOrd="6" destOrd="0" presId="urn:microsoft.com/office/officeart/2018/2/layout/IconVerticalSolidList"/>
    <dgm:cxn modelId="{92F5DC59-54B5-4AFF-A90D-4A2260E03E23}" type="presParOf" srcId="{E524F8BE-806F-45CD-BED1-F27EDBD9E28D}" destId="{9CAC829C-7CAE-4585-9A60-87A7D930F10B}" srcOrd="0" destOrd="0" presId="urn:microsoft.com/office/officeart/2018/2/layout/IconVerticalSolidList"/>
    <dgm:cxn modelId="{3F265A6E-9EA7-419A-99BB-89D9039ADC2B}" type="presParOf" srcId="{E524F8BE-806F-45CD-BED1-F27EDBD9E28D}" destId="{BC9F81D6-337D-4947-970A-3AAAC2E8ABCE}" srcOrd="1" destOrd="0" presId="urn:microsoft.com/office/officeart/2018/2/layout/IconVerticalSolidList"/>
    <dgm:cxn modelId="{5F9EA348-2F20-4F8E-ADE3-6D1C1B283C69}" type="presParOf" srcId="{E524F8BE-806F-45CD-BED1-F27EDBD9E28D}" destId="{B4C57E58-0104-4104-B15F-C8BF42F2028F}" srcOrd="2" destOrd="0" presId="urn:microsoft.com/office/officeart/2018/2/layout/IconVerticalSolidList"/>
    <dgm:cxn modelId="{A369FA97-13DB-406E-83C5-A1BAD1E838E9}" type="presParOf" srcId="{E524F8BE-806F-45CD-BED1-F27EDBD9E28D}" destId="{9E54183F-0A9F-45F3-89E0-2F0A0AA3EDFB}" srcOrd="3" destOrd="0" presId="urn:microsoft.com/office/officeart/2018/2/layout/IconVerticalSolidList"/>
    <dgm:cxn modelId="{09951D0B-F860-4700-A3C7-56F4D452F4B0}" type="presParOf" srcId="{2D6015DC-0123-44A8-A122-AC75951489B0}" destId="{CE7AA7BA-9741-4ED4-942F-B54F7AB39D83}" srcOrd="7" destOrd="0" presId="urn:microsoft.com/office/officeart/2018/2/layout/IconVerticalSolidList"/>
    <dgm:cxn modelId="{9914A108-6751-483C-87A7-B305D4C40D17}" type="presParOf" srcId="{2D6015DC-0123-44A8-A122-AC75951489B0}" destId="{D5AB83F2-63A7-4BC5-B021-B42F9BF80177}" srcOrd="8" destOrd="0" presId="urn:microsoft.com/office/officeart/2018/2/layout/IconVerticalSolidList"/>
    <dgm:cxn modelId="{FB12438A-F602-4614-B9F3-0585750C9A01}" type="presParOf" srcId="{D5AB83F2-63A7-4BC5-B021-B42F9BF80177}" destId="{6F045D5F-8FA6-4816-858F-8EE4E9FEA92D}" srcOrd="0" destOrd="0" presId="urn:microsoft.com/office/officeart/2018/2/layout/IconVerticalSolidList"/>
    <dgm:cxn modelId="{1000BDA9-51F8-4DA3-A985-E9B641554B88}" type="presParOf" srcId="{D5AB83F2-63A7-4BC5-B021-B42F9BF80177}" destId="{9F664EEC-AA1B-496B-826D-B66468F3AFBB}" srcOrd="1" destOrd="0" presId="urn:microsoft.com/office/officeart/2018/2/layout/IconVerticalSolidList"/>
    <dgm:cxn modelId="{C4747730-68FA-41AA-B825-47F601361377}" type="presParOf" srcId="{D5AB83F2-63A7-4BC5-B021-B42F9BF80177}" destId="{E1FC744B-5B1B-4129-BA43-8E6C474829CC}" srcOrd="2" destOrd="0" presId="urn:microsoft.com/office/officeart/2018/2/layout/IconVerticalSolidList"/>
    <dgm:cxn modelId="{232DA429-094C-49E8-9276-449A8FCEB5AC}" type="presParOf" srcId="{D5AB83F2-63A7-4BC5-B021-B42F9BF80177}" destId="{A28BBD41-FD86-4ABC-9108-DFE86727F3CC}" srcOrd="3" destOrd="0" presId="urn:microsoft.com/office/officeart/2018/2/layout/IconVerticalSolidList"/>
    <dgm:cxn modelId="{6AFD6743-1AC4-4076-B63C-036D512E2961}" type="presParOf" srcId="{2D6015DC-0123-44A8-A122-AC75951489B0}" destId="{592E061C-2CB5-4137-8155-C1F3B88F7AA0}" srcOrd="9" destOrd="0" presId="urn:microsoft.com/office/officeart/2018/2/layout/IconVerticalSolidList"/>
    <dgm:cxn modelId="{F22F2E0F-A769-4C6E-8DC4-EAE11FA8138F}" type="presParOf" srcId="{2D6015DC-0123-44A8-A122-AC75951489B0}" destId="{A04ACF5F-D9A0-4E33-AF61-B22BCCC3DA49}" srcOrd="10" destOrd="0" presId="urn:microsoft.com/office/officeart/2018/2/layout/IconVerticalSolidList"/>
    <dgm:cxn modelId="{F37B4FF4-F105-4C4E-B535-A81854BB85D5}" type="presParOf" srcId="{A04ACF5F-D9A0-4E33-AF61-B22BCCC3DA49}" destId="{99A55236-43D5-44FE-B56C-C5CCAF1C06E1}" srcOrd="0" destOrd="0" presId="urn:microsoft.com/office/officeart/2018/2/layout/IconVerticalSolidList"/>
    <dgm:cxn modelId="{0295E7F4-C4F5-47C4-B4A1-9138B38C1E4C}" type="presParOf" srcId="{A04ACF5F-D9A0-4E33-AF61-B22BCCC3DA49}" destId="{C60B1B1B-2AF1-4913-931D-1B7F30762BEA}" srcOrd="1" destOrd="0" presId="urn:microsoft.com/office/officeart/2018/2/layout/IconVerticalSolidList"/>
    <dgm:cxn modelId="{A8C794A2-EC63-4AD8-9412-FB66932B9E62}" type="presParOf" srcId="{A04ACF5F-D9A0-4E33-AF61-B22BCCC3DA49}" destId="{8DEA0238-7EEF-479C-AA75-2E1E894104FB}" srcOrd="2" destOrd="0" presId="urn:microsoft.com/office/officeart/2018/2/layout/IconVerticalSolidList"/>
    <dgm:cxn modelId="{21A084CE-FB30-4779-AB61-9747CAFA9DBF}" type="presParOf" srcId="{A04ACF5F-D9A0-4E33-AF61-B22BCCC3DA49}" destId="{D940568C-7B98-4E3E-A8A8-6CBFE0D769A2}" srcOrd="3" destOrd="0" presId="urn:microsoft.com/office/officeart/2018/2/layout/IconVerticalSolidList"/>
    <dgm:cxn modelId="{164CDDEB-B570-43E1-9F23-350875C576FC}" type="presParOf" srcId="{2D6015DC-0123-44A8-A122-AC75951489B0}" destId="{DDB53409-C78D-44BF-897B-9A63EFE20B70}" srcOrd="11" destOrd="0" presId="urn:microsoft.com/office/officeart/2018/2/layout/IconVerticalSolidList"/>
    <dgm:cxn modelId="{B3F13587-6003-4652-97F3-BA3A5E197F77}" type="presParOf" srcId="{2D6015DC-0123-44A8-A122-AC75951489B0}" destId="{CB8030FD-C54E-4E50-ABF9-D5BA06644A8A}" srcOrd="12" destOrd="0" presId="urn:microsoft.com/office/officeart/2018/2/layout/IconVerticalSolidList"/>
    <dgm:cxn modelId="{38E446A1-DD0F-4333-A5A4-DD20F0EBFC30}" type="presParOf" srcId="{CB8030FD-C54E-4E50-ABF9-D5BA06644A8A}" destId="{7CED1D2E-4F59-4E50-95C0-F30BAB1BF13A}" srcOrd="0" destOrd="0" presId="urn:microsoft.com/office/officeart/2018/2/layout/IconVerticalSolidList"/>
    <dgm:cxn modelId="{17460252-627C-4F2E-8EE7-543AE8E93799}" type="presParOf" srcId="{CB8030FD-C54E-4E50-ABF9-D5BA06644A8A}" destId="{09399B6E-FD7D-4A2F-BCE2-54408CE20E2C}" srcOrd="1" destOrd="0" presId="urn:microsoft.com/office/officeart/2018/2/layout/IconVerticalSolidList"/>
    <dgm:cxn modelId="{E1356C47-5B6D-4B12-BD39-9048BE7BCCC1}" type="presParOf" srcId="{CB8030FD-C54E-4E50-ABF9-D5BA06644A8A}" destId="{BB9C81DC-F244-4BE5-8905-5BCB6752D49E}" srcOrd="2" destOrd="0" presId="urn:microsoft.com/office/officeart/2018/2/layout/IconVerticalSolidList"/>
    <dgm:cxn modelId="{F926E8BF-54A9-4F3D-A6F8-6C45EE731374}" type="presParOf" srcId="{CB8030FD-C54E-4E50-ABF9-D5BA06644A8A}" destId="{89481298-7C90-4240-9B82-0A8DCACA0B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D31E01-7DA8-455B-96A2-B59911B92F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B812D15-3885-40E9-BE9F-DFBC5A1E7F22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ptos"/>
            </a:rPr>
            <a:t>Medicaid spending is concentrated among a small number of high-cost drugs </a:t>
          </a:r>
        </a:p>
      </dgm:t>
    </dgm:pt>
    <dgm:pt modelId="{6BAF6536-1C77-422E-8DFD-4070C2B5FC71}" type="parTrans" cxnId="{1FE22C27-848B-4A76-B65E-8012C0338159}">
      <dgm:prSet/>
      <dgm:spPr/>
      <dgm:t>
        <a:bodyPr/>
        <a:lstStyle/>
        <a:p>
          <a:endParaRPr lang="en-US" sz="1600"/>
        </a:p>
      </dgm:t>
    </dgm:pt>
    <dgm:pt modelId="{24E704CD-D44D-4276-8680-7D4CF5C8DAD8}" type="sibTrans" cxnId="{1FE22C27-848B-4A76-B65E-8012C0338159}">
      <dgm:prSet/>
      <dgm:spPr/>
      <dgm:t>
        <a:bodyPr/>
        <a:lstStyle/>
        <a:p>
          <a:endParaRPr lang="en-GB" sz="1600"/>
        </a:p>
      </dgm:t>
    </dgm:pt>
    <dgm:pt modelId="{12CAC3F7-D9AD-412B-854A-1ECC168D529E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ptos"/>
            </a:rPr>
            <a:t>The top drug visualization shows </a:t>
          </a:r>
          <a:r>
            <a:rPr lang="en-US" sz="1600" b="0">
              <a:latin typeface="Aptos"/>
            </a:rPr>
            <a:t>Vraylar</a:t>
          </a:r>
          <a:r>
            <a:rPr lang="en-US" sz="1600">
              <a:latin typeface="Aptos"/>
            </a:rPr>
            <a:t> as the highest reimbursement per capita drug </a:t>
          </a:r>
        </a:p>
      </dgm:t>
    </dgm:pt>
    <dgm:pt modelId="{2B1DBC7A-EC6B-4708-B4E4-84D88DDBB9D0}" type="parTrans" cxnId="{4A0A0E2A-5D17-4326-AC5F-AA47D9EA6DD6}">
      <dgm:prSet/>
      <dgm:spPr/>
      <dgm:t>
        <a:bodyPr/>
        <a:lstStyle/>
        <a:p>
          <a:endParaRPr lang="en-US" sz="1600"/>
        </a:p>
      </dgm:t>
    </dgm:pt>
    <dgm:pt modelId="{3BCE03A8-9EB1-4041-B9CF-895B122D683B}" type="sibTrans" cxnId="{4A0A0E2A-5D17-4326-AC5F-AA47D9EA6DD6}">
      <dgm:prSet/>
      <dgm:spPr/>
      <dgm:t>
        <a:bodyPr/>
        <a:lstStyle/>
        <a:p>
          <a:endParaRPr lang="en-GB" sz="1600"/>
        </a:p>
      </dgm:t>
    </dgm:pt>
    <dgm:pt modelId="{0D4A6F84-9701-4489-BF1D-55D9D8E24666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ptos"/>
            </a:rPr>
            <a:t>Cost-control efforts should begin with the highest-cost drugs</a:t>
          </a:r>
        </a:p>
      </dgm:t>
    </dgm:pt>
    <dgm:pt modelId="{3AF5C01F-C2AA-4CFE-AAA8-4528186AB1BD}" type="parTrans" cxnId="{E3B36D2F-4858-496D-A7EA-046CA7367F11}">
      <dgm:prSet/>
      <dgm:spPr/>
      <dgm:t>
        <a:bodyPr/>
        <a:lstStyle/>
        <a:p>
          <a:endParaRPr lang="en-US" sz="1600"/>
        </a:p>
      </dgm:t>
    </dgm:pt>
    <dgm:pt modelId="{D4332F3D-9F22-44BE-BCC3-C9A3F6080DCD}" type="sibTrans" cxnId="{E3B36D2F-4858-496D-A7EA-046CA7367F11}">
      <dgm:prSet/>
      <dgm:spPr/>
      <dgm:t>
        <a:bodyPr/>
        <a:lstStyle/>
        <a:p>
          <a:endParaRPr lang="en-GB" sz="1600"/>
        </a:p>
      </dgm:t>
    </dgm:pt>
    <dgm:pt modelId="{17837753-A5C2-4BEA-AF97-E2A666DE5C1A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latin typeface="Aptos"/>
            </a:rPr>
            <a:t>Strengthen rebate negotiation, review therapeutic alternatives, and apply prior authorization where appropriate </a:t>
          </a:r>
        </a:p>
      </dgm:t>
    </dgm:pt>
    <dgm:pt modelId="{301B098B-C7DB-433A-9173-066F3673C26D}" type="parTrans" cxnId="{1FCA0FD5-4660-462C-952C-BD907646F54C}">
      <dgm:prSet/>
      <dgm:spPr/>
      <dgm:t>
        <a:bodyPr/>
        <a:lstStyle/>
        <a:p>
          <a:endParaRPr lang="en-US" sz="1600"/>
        </a:p>
      </dgm:t>
    </dgm:pt>
    <dgm:pt modelId="{DAB1849B-2175-43E2-8897-EEA8795D56ED}" type="sibTrans" cxnId="{1FCA0FD5-4660-462C-952C-BD907646F54C}">
      <dgm:prSet/>
      <dgm:spPr/>
      <dgm:t>
        <a:bodyPr/>
        <a:lstStyle/>
        <a:p>
          <a:endParaRPr lang="en-GB" sz="1600"/>
        </a:p>
      </dgm:t>
    </dgm:pt>
    <dgm:pt modelId="{E702653C-D2FF-47EB-BBB1-7FC7E142E9A1}" type="pres">
      <dgm:prSet presAssocID="{8ED31E01-7DA8-455B-96A2-B59911B92FD4}" presName="root" presStyleCnt="0">
        <dgm:presLayoutVars>
          <dgm:dir/>
          <dgm:resizeHandles val="exact"/>
        </dgm:presLayoutVars>
      </dgm:prSet>
      <dgm:spPr/>
    </dgm:pt>
    <dgm:pt modelId="{3D2CFDCA-8F20-47BF-9808-AEAF9CD21F08}" type="pres">
      <dgm:prSet presAssocID="{2B812D15-3885-40E9-BE9F-DFBC5A1E7F22}" presName="compNode" presStyleCnt="0"/>
      <dgm:spPr/>
    </dgm:pt>
    <dgm:pt modelId="{5A53B7AB-015E-4140-BDA7-B49B58A396D3}" type="pres">
      <dgm:prSet presAssocID="{2B812D15-3885-40E9-BE9F-DFBC5A1E7F22}" presName="bgRect" presStyleLbl="bgShp" presStyleIdx="0" presStyleCnt="4"/>
      <dgm:spPr/>
    </dgm:pt>
    <dgm:pt modelId="{A3A77264-D280-40A7-A98C-D57A9DC71B24}" type="pres">
      <dgm:prSet presAssocID="{2B812D15-3885-40E9-BE9F-DFBC5A1E7F2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FCE7485-851C-455E-B657-85F68928AC23}" type="pres">
      <dgm:prSet presAssocID="{2B812D15-3885-40E9-BE9F-DFBC5A1E7F22}" presName="spaceRect" presStyleCnt="0"/>
      <dgm:spPr/>
    </dgm:pt>
    <dgm:pt modelId="{D2CFE956-69A4-4700-9E59-AB6D5732FB8B}" type="pres">
      <dgm:prSet presAssocID="{2B812D15-3885-40E9-BE9F-DFBC5A1E7F22}" presName="parTx" presStyleLbl="revTx" presStyleIdx="0" presStyleCnt="4">
        <dgm:presLayoutVars>
          <dgm:chMax val="0"/>
          <dgm:chPref val="0"/>
        </dgm:presLayoutVars>
      </dgm:prSet>
      <dgm:spPr/>
    </dgm:pt>
    <dgm:pt modelId="{943C255C-6F31-45D6-985E-648BD36C5CD6}" type="pres">
      <dgm:prSet presAssocID="{24E704CD-D44D-4276-8680-7D4CF5C8DAD8}" presName="sibTrans" presStyleCnt="0"/>
      <dgm:spPr/>
    </dgm:pt>
    <dgm:pt modelId="{7BCAB64D-C3A3-4503-A23B-5C32A6503910}" type="pres">
      <dgm:prSet presAssocID="{12CAC3F7-D9AD-412B-854A-1ECC168D529E}" presName="compNode" presStyleCnt="0"/>
      <dgm:spPr/>
    </dgm:pt>
    <dgm:pt modelId="{CBC94AAC-9B47-4A0F-8B78-01BC45B3658B}" type="pres">
      <dgm:prSet presAssocID="{12CAC3F7-D9AD-412B-854A-1ECC168D529E}" presName="bgRect" presStyleLbl="bgShp" presStyleIdx="1" presStyleCnt="4"/>
      <dgm:spPr/>
    </dgm:pt>
    <dgm:pt modelId="{9DFB14F1-909F-4C13-B663-EAB9AEBBDD8C}" type="pres">
      <dgm:prSet presAssocID="{12CAC3F7-D9AD-412B-854A-1ECC168D529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D4282E26-A344-4095-8CB8-05A019840F3E}" type="pres">
      <dgm:prSet presAssocID="{12CAC3F7-D9AD-412B-854A-1ECC168D529E}" presName="spaceRect" presStyleCnt="0"/>
      <dgm:spPr/>
    </dgm:pt>
    <dgm:pt modelId="{9F306066-1475-459D-98A4-39A10A8CB64A}" type="pres">
      <dgm:prSet presAssocID="{12CAC3F7-D9AD-412B-854A-1ECC168D529E}" presName="parTx" presStyleLbl="revTx" presStyleIdx="1" presStyleCnt="4">
        <dgm:presLayoutVars>
          <dgm:chMax val="0"/>
          <dgm:chPref val="0"/>
        </dgm:presLayoutVars>
      </dgm:prSet>
      <dgm:spPr/>
    </dgm:pt>
    <dgm:pt modelId="{E4FBFC3C-6689-4D90-A003-B46714E3660F}" type="pres">
      <dgm:prSet presAssocID="{3BCE03A8-9EB1-4041-B9CF-895B122D683B}" presName="sibTrans" presStyleCnt="0"/>
      <dgm:spPr/>
    </dgm:pt>
    <dgm:pt modelId="{91D8A17F-6AE8-472E-8D4F-A0715200DA04}" type="pres">
      <dgm:prSet presAssocID="{0D4A6F84-9701-4489-BF1D-55D9D8E24666}" presName="compNode" presStyleCnt="0"/>
      <dgm:spPr/>
    </dgm:pt>
    <dgm:pt modelId="{201EFADD-C315-4020-82C8-ACD33D43F4A2}" type="pres">
      <dgm:prSet presAssocID="{0D4A6F84-9701-4489-BF1D-55D9D8E24666}" presName="bgRect" presStyleLbl="bgShp" presStyleIdx="2" presStyleCnt="4"/>
      <dgm:spPr/>
    </dgm:pt>
    <dgm:pt modelId="{7AB7EF6A-9962-440B-9DC9-7D6DC2FD8AD0}" type="pres">
      <dgm:prSet presAssocID="{0D4A6F84-9701-4489-BF1D-55D9D8E246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133BA74E-0144-4D28-AC2A-777563C7CD70}" type="pres">
      <dgm:prSet presAssocID="{0D4A6F84-9701-4489-BF1D-55D9D8E24666}" presName="spaceRect" presStyleCnt="0"/>
      <dgm:spPr/>
    </dgm:pt>
    <dgm:pt modelId="{DAE7DE91-5DF8-4526-B411-120181CA6442}" type="pres">
      <dgm:prSet presAssocID="{0D4A6F84-9701-4489-BF1D-55D9D8E24666}" presName="parTx" presStyleLbl="revTx" presStyleIdx="2" presStyleCnt="4">
        <dgm:presLayoutVars>
          <dgm:chMax val="0"/>
          <dgm:chPref val="0"/>
        </dgm:presLayoutVars>
      </dgm:prSet>
      <dgm:spPr/>
    </dgm:pt>
    <dgm:pt modelId="{D0FB33BC-94CE-47DC-95E5-DC082380087E}" type="pres">
      <dgm:prSet presAssocID="{D4332F3D-9F22-44BE-BCC3-C9A3F6080DCD}" presName="sibTrans" presStyleCnt="0"/>
      <dgm:spPr/>
    </dgm:pt>
    <dgm:pt modelId="{F796589B-C31A-42FF-B6B0-7A2C11ED3ABB}" type="pres">
      <dgm:prSet presAssocID="{17837753-A5C2-4BEA-AF97-E2A666DE5C1A}" presName="compNode" presStyleCnt="0"/>
      <dgm:spPr/>
    </dgm:pt>
    <dgm:pt modelId="{8F64B498-8113-4DE5-BF20-E1A6DD627D25}" type="pres">
      <dgm:prSet presAssocID="{17837753-A5C2-4BEA-AF97-E2A666DE5C1A}" presName="bgRect" presStyleLbl="bgShp" presStyleIdx="3" presStyleCnt="4"/>
      <dgm:spPr/>
    </dgm:pt>
    <dgm:pt modelId="{23ADF7F1-FA63-453F-BB63-E3E278BA1F37}" type="pres">
      <dgm:prSet presAssocID="{17837753-A5C2-4BEA-AF97-E2A666DE5C1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BD75FDA-91DE-4698-BD66-89722E77D093}" type="pres">
      <dgm:prSet presAssocID="{17837753-A5C2-4BEA-AF97-E2A666DE5C1A}" presName="spaceRect" presStyleCnt="0"/>
      <dgm:spPr/>
    </dgm:pt>
    <dgm:pt modelId="{DEFAE8B5-0281-4DF7-A7C2-9756303A843F}" type="pres">
      <dgm:prSet presAssocID="{17837753-A5C2-4BEA-AF97-E2A666DE5C1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A2E4425-A52E-E24D-B4D9-1EA4058DC511}" type="presOf" srcId="{8ED31E01-7DA8-455B-96A2-B59911B92FD4}" destId="{E702653C-D2FF-47EB-BBB1-7FC7E142E9A1}" srcOrd="0" destOrd="0" presId="urn:microsoft.com/office/officeart/2018/2/layout/IconVerticalSolidList"/>
    <dgm:cxn modelId="{1FE22C27-848B-4A76-B65E-8012C0338159}" srcId="{8ED31E01-7DA8-455B-96A2-B59911B92FD4}" destId="{2B812D15-3885-40E9-BE9F-DFBC5A1E7F22}" srcOrd="0" destOrd="0" parTransId="{6BAF6536-1C77-422E-8DFD-4070C2B5FC71}" sibTransId="{24E704CD-D44D-4276-8680-7D4CF5C8DAD8}"/>
    <dgm:cxn modelId="{4A0A0E2A-5D17-4326-AC5F-AA47D9EA6DD6}" srcId="{8ED31E01-7DA8-455B-96A2-B59911B92FD4}" destId="{12CAC3F7-D9AD-412B-854A-1ECC168D529E}" srcOrd="1" destOrd="0" parTransId="{2B1DBC7A-EC6B-4708-B4E4-84D88DDBB9D0}" sibTransId="{3BCE03A8-9EB1-4041-B9CF-895B122D683B}"/>
    <dgm:cxn modelId="{E3B36D2F-4858-496D-A7EA-046CA7367F11}" srcId="{8ED31E01-7DA8-455B-96A2-B59911B92FD4}" destId="{0D4A6F84-9701-4489-BF1D-55D9D8E24666}" srcOrd="2" destOrd="0" parTransId="{3AF5C01F-C2AA-4CFE-AAA8-4528186AB1BD}" sibTransId="{D4332F3D-9F22-44BE-BCC3-C9A3F6080DCD}"/>
    <dgm:cxn modelId="{341DCF30-D1AD-6644-9A64-2823C75DDE92}" type="presOf" srcId="{0D4A6F84-9701-4489-BF1D-55D9D8E24666}" destId="{DAE7DE91-5DF8-4526-B411-120181CA6442}" srcOrd="0" destOrd="0" presId="urn:microsoft.com/office/officeart/2018/2/layout/IconVerticalSolidList"/>
    <dgm:cxn modelId="{CBE52385-C192-5140-9039-30E18573795A}" type="presOf" srcId="{12CAC3F7-D9AD-412B-854A-1ECC168D529E}" destId="{9F306066-1475-459D-98A4-39A10A8CB64A}" srcOrd="0" destOrd="0" presId="urn:microsoft.com/office/officeart/2018/2/layout/IconVerticalSolidList"/>
    <dgm:cxn modelId="{1E64408D-CADF-D34D-95B5-F73C4C4B133B}" type="presOf" srcId="{2B812D15-3885-40E9-BE9F-DFBC5A1E7F22}" destId="{D2CFE956-69A4-4700-9E59-AB6D5732FB8B}" srcOrd="0" destOrd="0" presId="urn:microsoft.com/office/officeart/2018/2/layout/IconVerticalSolidList"/>
    <dgm:cxn modelId="{EC34AE9A-D8E9-D34B-A46B-CAFF64A83ED1}" type="presOf" srcId="{17837753-A5C2-4BEA-AF97-E2A666DE5C1A}" destId="{DEFAE8B5-0281-4DF7-A7C2-9756303A843F}" srcOrd="0" destOrd="0" presId="urn:microsoft.com/office/officeart/2018/2/layout/IconVerticalSolidList"/>
    <dgm:cxn modelId="{1FCA0FD5-4660-462C-952C-BD907646F54C}" srcId="{8ED31E01-7DA8-455B-96A2-B59911B92FD4}" destId="{17837753-A5C2-4BEA-AF97-E2A666DE5C1A}" srcOrd="3" destOrd="0" parTransId="{301B098B-C7DB-433A-9173-066F3673C26D}" sibTransId="{DAB1849B-2175-43E2-8897-EEA8795D56ED}"/>
    <dgm:cxn modelId="{67828835-B75A-4C4C-BC28-D8DBF0B67CE9}" type="presParOf" srcId="{E702653C-D2FF-47EB-BBB1-7FC7E142E9A1}" destId="{3D2CFDCA-8F20-47BF-9808-AEAF9CD21F08}" srcOrd="0" destOrd="0" presId="urn:microsoft.com/office/officeart/2018/2/layout/IconVerticalSolidList"/>
    <dgm:cxn modelId="{81009B35-3520-6D4B-BA99-52668557E256}" type="presParOf" srcId="{3D2CFDCA-8F20-47BF-9808-AEAF9CD21F08}" destId="{5A53B7AB-015E-4140-BDA7-B49B58A396D3}" srcOrd="0" destOrd="0" presId="urn:microsoft.com/office/officeart/2018/2/layout/IconVerticalSolidList"/>
    <dgm:cxn modelId="{2808F99B-4583-A442-B19D-7ACC637B1787}" type="presParOf" srcId="{3D2CFDCA-8F20-47BF-9808-AEAF9CD21F08}" destId="{A3A77264-D280-40A7-A98C-D57A9DC71B24}" srcOrd="1" destOrd="0" presId="urn:microsoft.com/office/officeart/2018/2/layout/IconVerticalSolidList"/>
    <dgm:cxn modelId="{E4702228-1C6C-7340-8F7A-A74BAAB28470}" type="presParOf" srcId="{3D2CFDCA-8F20-47BF-9808-AEAF9CD21F08}" destId="{1FCE7485-851C-455E-B657-85F68928AC23}" srcOrd="2" destOrd="0" presId="urn:microsoft.com/office/officeart/2018/2/layout/IconVerticalSolidList"/>
    <dgm:cxn modelId="{561CDB57-8850-7C4D-A219-A2E485D0E0CC}" type="presParOf" srcId="{3D2CFDCA-8F20-47BF-9808-AEAF9CD21F08}" destId="{D2CFE956-69A4-4700-9E59-AB6D5732FB8B}" srcOrd="3" destOrd="0" presId="urn:microsoft.com/office/officeart/2018/2/layout/IconVerticalSolidList"/>
    <dgm:cxn modelId="{8B12AAA1-92EF-1345-9ADB-F66503A79998}" type="presParOf" srcId="{E702653C-D2FF-47EB-BBB1-7FC7E142E9A1}" destId="{943C255C-6F31-45D6-985E-648BD36C5CD6}" srcOrd="1" destOrd="0" presId="urn:microsoft.com/office/officeart/2018/2/layout/IconVerticalSolidList"/>
    <dgm:cxn modelId="{5D6733A5-2488-9C4F-ACDE-27C926C649FD}" type="presParOf" srcId="{E702653C-D2FF-47EB-BBB1-7FC7E142E9A1}" destId="{7BCAB64D-C3A3-4503-A23B-5C32A6503910}" srcOrd="2" destOrd="0" presId="urn:microsoft.com/office/officeart/2018/2/layout/IconVerticalSolidList"/>
    <dgm:cxn modelId="{00804C4E-8689-CA43-A9EF-2D30C468E5A2}" type="presParOf" srcId="{7BCAB64D-C3A3-4503-A23B-5C32A6503910}" destId="{CBC94AAC-9B47-4A0F-8B78-01BC45B3658B}" srcOrd="0" destOrd="0" presId="urn:microsoft.com/office/officeart/2018/2/layout/IconVerticalSolidList"/>
    <dgm:cxn modelId="{D8448CDD-4005-3B45-B1B3-F7BABAAD4290}" type="presParOf" srcId="{7BCAB64D-C3A3-4503-A23B-5C32A6503910}" destId="{9DFB14F1-909F-4C13-B663-EAB9AEBBDD8C}" srcOrd="1" destOrd="0" presId="urn:microsoft.com/office/officeart/2018/2/layout/IconVerticalSolidList"/>
    <dgm:cxn modelId="{99289AD9-5B57-D84C-9A62-AE86DA1BE695}" type="presParOf" srcId="{7BCAB64D-C3A3-4503-A23B-5C32A6503910}" destId="{D4282E26-A344-4095-8CB8-05A019840F3E}" srcOrd="2" destOrd="0" presId="urn:microsoft.com/office/officeart/2018/2/layout/IconVerticalSolidList"/>
    <dgm:cxn modelId="{19998FAA-84B3-414C-924E-B73F44A98E04}" type="presParOf" srcId="{7BCAB64D-C3A3-4503-A23B-5C32A6503910}" destId="{9F306066-1475-459D-98A4-39A10A8CB64A}" srcOrd="3" destOrd="0" presId="urn:microsoft.com/office/officeart/2018/2/layout/IconVerticalSolidList"/>
    <dgm:cxn modelId="{3D510420-32CB-6E47-8BA1-6F5ADA490942}" type="presParOf" srcId="{E702653C-D2FF-47EB-BBB1-7FC7E142E9A1}" destId="{E4FBFC3C-6689-4D90-A003-B46714E3660F}" srcOrd="3" destOrd="0" presId="urn:microsoft.com/office/officeart/2018/2/layout/IconVerticalSolidList"/>
    <dgm:cxn modelId="{60E8D377-8E54-B045-8769-F2C6FE36259E}" type="presParOf" srcId="{E702653C-D2FF-47EB-BBB1-7FC7E142E9A1}" destId="{91D8A17F-6AE8-472E-8D4F-A0715200DA04}" srcOrd="4" destOrd="0" presId="urn:microsoft.com/office/officeart/2018/2/layout/IconVerticalSolidList"/>
    <dgm:cxn modelId="{D0FADFEB-3744-ED40-9A0F-0648266D2882}" type="presParOf" srcId="{91D8A17F-6AE8-472E-8D4F-A0715200DA04}" destId="{201EFADD-C315-4020-82C8-ACD33D43F4A2}" srcOrd="0" destOrd="0" presId="urn:microsoft.com/office/officeart/2018/2/layout/IconVerticalSolidList"/>
    <dgm:cxn modelId="{5FBA81F5-353A-3A4A-8CE6-1AB7C05F6EA9}" type="presParOf" srcId="{91D8A17F-6AE8-472E-8D4F-A0715200DA04}" destId="{7AB7EF6A-9962-440B-9DC9-7D6DC2FD8AD0}" srcOrd="1" destOrd="0" presId="urn:microsoft.com/office/officeart/2018/2/layout/IconVerticalSolidList"/>
    <dgm:cxn modelId="{1B46B08B-EE9C-924F-A153-36475E2214D3}" type="presParOf" srcId="{91D8A17F-6AE8-472E-8D4F-A0715200DA04}" destId="{133BA74E-0144-4D28-AC2A-777563C7CD70}" srcOrd="2" destOrd="0" presId="urn:microsoft.com/office/officeart/2018/2/layout/IconVerticalSolidList"/>
    <dgm:cxn modelId="{46299BA7-2217-0E49-9D46-125F1613A2FD}" type="presParOf" srcId="{91D8A17F-6AE8-472E-8D4F-A0715200DA04}" destId="{DAE7DE91-5DF8-4526-B411-120181CA6442}" srcOrd="3" destOrd="0" presId="urn:microsoft.com/office/officeart/2018/2/layout/IconVerticalSolidList"/>
    <dgm:cxn modelId="{D044A78B-E021-0C43-8CB6-A49BC57A5EFC}" type="presParOf" srcId="{E702653C-D2FF-47EB-BBB1-7FC7E142E9A1}" destId="{D0FB33BC-94CE-47DC-95E5-DC082380087E}" srcOrd="5" destOrd="0" presId="urn:microsoft.com/office/officeart/2018/2/layout/IconVerticalSolidList"/>
    <dgm:cxn modelId="{501BDF3E-847B-1A4E-AF53-B4D6A3AC485E}" type="presParOf" srcId="{E702653C-D2FF-47EB-BBB1-7FC7E142E9A1}" destId="{F796589B-C31A-42FF-B6B0-7A2C11ED3ABB}" srcOrd="6" destOrd="0" presId="urn:microsoft.com/office/officeart/2018/2/layout/IconVerticalSolidList"/>
    <dgm:cxn modelId="{FFDB8479-CCC7-AB40-9FEF-8D9847ED520D}" type="presParOf" srcId="{F796589B-C31A-42FF-B6B0-7A2C11ED3ABB}" destId="{8F64B498-8113-4DE5-BF20-E1A6DD627D25}" srcOrd="0" destOrd="0" presId="urn:microsoft.com/office/officeart/2018/2/layout/IconVerticalSolidList"/>
    <dgm:cxn modelId="{497622E1-3EDF-D444-AC41-FCC7D5EAD414}" type="presParOf" srcId="{F796589B-C31A-42FF-B6B0-7A2C11ED3ABB}" destId="{23ADF7F1-FA63-453F-BB63-E3E278BA1F37}" srcOrd="1" destOrd="0" presId="urn:microsoft.com/office/officeart/2018/2/layout/IconVerticalSolidList"/>
    <dgm:cxn modelId="{56A0F280-1023-5449-8BEB-F861350D65D1}" type="presParOf" srcId="{F796589B-C31A-42FF-B6B0-7A2C11ED3ABB}" destId="{4BD75FDA-91DE-4698-BD66-89722E77D093}" srcOrd="2" destOrd="0" presId="urn:microsoft.com/office/officeart/2018/2/layout/IconVerticalSolidList"/>
    <dgm:cxn modelId="{6B7BAC65-1959-E641-99B7-8EA6F2F22210}" type="presParOf" srcId="{F796589B-C31A-42FF-B6B0-7A2C11ED3ABB}" destId="{DEFAE8B5-0281-4DF7-A7C2-9756303A84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D223C9-D57B-40DA-A410-3899D8BC4ED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2F5886-FBFF-4112-89A4-CFA79295C9A5}">
      <dgm:prSet/>
      <dgm:spPr>
        <a:solidFill>
          <a:schemeClr val="tx2"/>
        </a:solidFill>
      </dgm:spPr>
      <dgm:t>
        <a:bodyPr/>
        <a:lstStyle/>
        <a:p>
          <a:r>
            <a:rPr lang="en-US"/>
            <a:t>Medicaid drug spending is growing and will intensify as new specialty drugs enter the market</a:t>
          </a:r>
        </a:p>
      </dgm:t>
    </dgm:pt>
    <dgm:pt modelId="{E68720DC-A289-4A99-A56E-8C3D972176E5}" type="parTrans" cxnId="{0616496B-5DBB-4874-B02B-54AA07876367}">
      <dgm:prSet/>
      <dgm:spPr/>
      <dgm:t>
        <a:bodyPr/>
        <a:lstStyle/>
        <a:p>
          <a:endParaRPr lang="en-US" sz="1600"/>
        </a:p>
      </dgm:t>
    </dgm:pt>
    <dgm:pt modelId="{EC9FAEA1-B0D8-420A-A88A-76F173C98F4C}" type="sibTrans" cxnId="{0616496B-5DBB-4874-B02B-54AA07876367}">
      <dgm:prSet/>
      <dgm:spPr>
        <a:solidFill>
          <a:schemeClr val="tx2">
            <a:lumMod val="10000"/>
            <a:lumOff val="90000"/>
            <a:alpha val="90000"/>
          </a:schemeClr>
        </a:solidFill>
        <a:ln>
          <a:noFill/>
        </a:ln>
      </dgm:spPr>
      <dgm:t>
        <a:bodyPr/>
        <a:lstStyle/>
        <a:p>
          <a:endParaRPr lang="en-US"/>
        </a:p>
      </dgm:t>
    </dgm:pt>
    <dgm:pt modelId="{66951574-F960-48D4-8760-6A1295F93EE3}">
      <dgm:prSet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/>
            <a:t>Data-driven analysis enables precision cost reduction without cutting patient access or benefits</a:t>
          </a:r>
        </a:p>
      </dgm:t>
    </dgm:pt>
    <dgm:pt modelId="{5B40DFDD-914E-419D-8537-FEA2709BC9F1}" type="parTrans" cxnId="{A69108E5-F358-481E-BE41-3BDB747F5DB8}">
      <dgm:prSet/>
      <dgm:spPr/>
      <dgm:t>
        <a:bodyPr/>
        <a:lstStyle/>
        <a:p>
          <a:endParaRPr lang="en-US" sz="1600"/>
        </a:p>
      </dgm:t>
    </dgm:pt>
    <dgm:pt modelId="{C1F417F8-9AFC-4302-B9D8-8DFDB0EB7B4E}" type="sibTrans" cxnId="{A69108E5-F358-481E-BE41-3BDB747F5DB8}">
      <dgm:prSet/>
      <dgm:spPr>
        <a:solidFill>
          <a:schemeClr val="tx2">
            <a:lumMod val="10000"/>
            <a:lumOff val="90000"/>
            <a:alpha val="90000"/>
          </a:schemeClr>
        </a:solidFill>
        <a:ln>
          <a:noFill/>
        </a:ln>
      </dgm:spPr>
      <dgm:t>
        <a:bodyPr/>
        <a:lstStyle/>
        <a:p>
          <a:endParaRPr lang="en-US"/>
        </a:p>
      </dgm:t>
    </dgm:pt>
    <dgm:pt modelId="{16C542B1-A503-437E-A947-914C5437A34D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/>
            <a:t>A small number of drugs and states represent the greatest opportunity for immediate impact</a:t>
          </a:r>
        </a:p>
      </dgm:t>
    </dgm:pt>
    <dgm:pt modelId="{A6E76993-88C8-495B-BEA8-E66E132F22DF}" type="parTrans" cxnId="{0601AECF-3AA1-439D-BF4A-01CDB7A21049}">
      <dgm:prSet/>
      <dgm:spPr/>
      <dgm:t>
        <a:bodyPr/>
        <a:lstStyle/>
        <a:p>
          <a:endParaRPr lang="en-US" sz="1600"/>
        </a:p>
      </dgm:t>
    </dgm:pt>
    <dgm:pt modelId="{8E7BCE81-BC0B-46CC-9DF7-FA5C35BF3F64}" type="sibTrans" cxnId="{0601AECF-3AA1-439D-BF4A-01CDB7A21049}">
      <dgm:prSet/>
      <dgm:spPr>
        <a:solidFill>
          <a:schemeClr val="tx2">
            <a:lumMod val="10000"/>
            <a:lumOff val="90000"/>
            <a:alpha val="90000"/>
          </a:schemeClr>
        </a:solidFill>
        <a:ln>
          <a:noFill/>
        </a:ln>
      </dgm:spPr>
      <dgm:t>
        <a:bodyPr/>
        <a:lstStyle/>
        <a:p>
          <a:endParaRPr lang="en-US"/>
        </a:p>
      </dgm:t>
    </dgm:pt>
    <dgm:pt modelId="{3E4FCA0A-A54F-445C-90B1-0DE93E1F3916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/>
            <a:t>Early intervention through policy reform and rebate negotiation creates long-term sustainability</a:t>
          </a:r>
        </a:p>
      </dgm:t>
    </dgm:pt>
    <dgm:pt modelId="{4A85688D-7407-466D-BE6E-529FF36F2117}" type="parTrans" cxnId="{8C5C9884-042E-4437-8012-A1B2D0F069AB}">
      <dgm:prSet/>
      <dgm:spPr/>
      <dgm:t>
        <a:bodyPr/>
        <a:lstStyle/>
        <a:p>
          <a:endParaRPr lang="en-US" sz="1600"/>
        </a:p>
      </dgm:t>
    </dgm:pt>
    <dgm:pt modelId="{915B521D-072C-4DBB-B606-633B11191CF0}" type="sibTrans" cxnId="{8C5C9884-042E-4437-8012-A1B2D0F069AB}">
      <dgm:prSet/>
      <dgm:spPr/>
      <dgm:t>
        <a:bodyPr/>
        <a:lstStyle/>
        <a:p>
          <a:endParaRPr lang="en-US"/>
        </a:p>
      </dgm:t>
    </dgm:pt>
    <dgm:pt modelId="{11310791-206F-6C43-A2D6-EC2A263E1BF7}" type="pres">
      <dgm:prSet presAssocID="{6BD223C9-D57B-40DA-A410-3899D8BC4ED0}" presName="outerComposite" presStyleCnt="0">
        <dgm:presLayoutVars>
          <dgm:chMax val="5"/>
          <dgm:dir/>
          <dgm:resizeHandles val="exact"/>
        </dgm:presLayoutVars>
      </dgm:prSet>
      <dgm:spPr/>
    </dgm:pt>
    <dgm:pt modelId="{B4C5211A-D08E-B342-998A-BFCA2172EC60}" type="pres">
      <dgm:prSet presAssocID="{6BD223C9-D57B-40DA-A410-3899D8BC4ED0}" presName="dummyMaxCanvas" presStyleCnt="0">
        <dgm:presLayoutVars/>
      </dgm:prSet>
      <dgm:spPr/>
    </dgm:pt>
    <dgm:pt modelId="{279F29CD-47EA-6A4E-A4A2-D145AC7116E6}" type="pres">
      <dgm:prSet presAssocID="{6BD223C9-D57B-40DA-A410-3899D8BC4ED0}" presName="FourNodes_1" presStyleLbl="node1" presStyleIdx="0" presStyleCnt="4">
        <dgm:presLayoutVars>
          <dgm:bulletEnabled val="1"/>
        </dgm:presLayoutVars>
      </dgm:prSet>
      <dgm:spPr/>
    </dgm:pt>
    <dgm:pt modelId="{8BF69F99-5196-A04E-B377-9E428C68C57F}" type="pres">
      <dgm:prSet presAssocID="{6BD223C9-D57B-40DA-A410-3899D8BC4ED0}" presName="FourNodes_2" presStyleLbl="node1" presStyleIdx="1" presStyleCnt="4">
        <dgm:presLayoutVars>
          <dgm:bulletEnabled val="1"/>
        </dgm:presLayoutVars>
      </dgm:prSet>
      <dgm:spPr/>
    </dgm:pt>
    <dgm:pt modelId="{39F8C394-3E68-2B4A-A01A-808CA870E331}" type="pres">
      <dgm:prSet presAssocID="{6BD223C9-D57B-40DA-A410-3899D8BC4ED0}" presName="FourNodes_3" presStyleLbl="node1" presStyleIdx="2" presStyleCnt="4">
        <dgm:presLayoutVars>
          <dgm:bulletEnabled val="1"/>
        </dgm:presLayoutVars>
      </dgm:prSet>
      <dgm:spPr/>
    </dgm:pt>
    <dgm:pt modelId="{6F677B0B-44AE-AE4E-A9EE-6CF75B2CF93B}" type="pres">
      <dgm:prSet presAssocID="{6BD223C9-D57B-40DA-A410-3899D8BC4ED0}" presName="FourNodes_4" presStyleLbl="node1" presStyleIdx="3" presStyleCnt="4">
        <dgm:presLayoutVars>
          <dgm:bulletEnabled val="1"/>
        </dgm:presLayoutVars>
      </dgm:prSet>
      <dgm:spPr/>
    </dgm:pt>
    <dgm:pt modelId="{03498BFA-E064-0243-88F9-E6D396DB7DBC}" type="pres">
      <dgm:prSet presAssocID="{6BD223C9-D57B-40DA-A410-3899D8BC4ED0}" presName="FourConn_1-2" presStyleLbl="fgAccFollowNode1" presStyleIdx="0" presStyleCnt="3">
        <dgm:presLayoutVars>
          <dgm:bulletEnabled val="1"/>
        </dgm:presLayoutVars>
      </dgm:prSet>
      <dgm:spPr/>
    </dgm:pt>
    <dgm:pt modelId="{A114E578-0806-C349-AAA0-70669E5FD54E}" type="pres">
      <dgm:prSet presAssocID="{6BD223C9-D57B-40DA-A410-3899D8BC4ED0}" presName="FourConn_2-3" presStyleLbl="fgAccFollowNode1" presStyleIdx="1" presStyleCnt="3">
        <dgm:presLayoutVars>
          <dgm:bulletEnabled val="1"/>
        </dgm:presLayoutVars>
      </dgm:prSet>
      <dgm:spPr/>
    </dgm:pt>
    <dgm:pt modelId="{F294737A-D1DF-0247-A95C-E7F4D561D748}" type="pres">
      <dgm:prSet presAssocID="{6BD223C9-D57B-40DA-A410-3899D8BC4ED0}" presName="FourConn_3-4" presStyleLbl="fgAccFollowNode1" presStyleIdx="2" presStyleCnt="3">
        <dgm:presLayoutVars>
          <dgm:bulletEnabled val="1"/>
        </dgm:presLayoutVars>
      </dgm:prSet>
      <dgm:spPr/>
    </dgm:pt>
    <dgm:pt modelId="{018C6A3F-96F0-A345-B850-D8A4A922AC4C}" type="pres">
      <dgm:prSet presAssocID="{6BD223C9-D57B-40DA-A410-3899D8BC4ED0}" presName="FourNodes_1_text" presStyleLbl="node1" presStyleIdx="3" presStyleCnt="4">
        <dgm:presLayoutVars>
          <dgm:bulletEnabled val="1"/>
        </dgm:presLayoutVars>
      </dgm:prSet>
      <dgm:spPr/>
    </dgm:pt>
    <dgm:pt modelId="{D4680014-5DBE-0944-B99C-97F25058C8D0}" type="pres">
      <dgm:prSet presAssocID="{6BD223C9-D57B-40DA-A410-3899D8BC4ED0}" presName="FourNodes_2_text" presStyleLbl="node1" presStyleIdx="3" presStyleCnt="4">
        <dgm:presLayoutVars>
          <dgm:bulletEnabled val="1"/>
        </dgm:presLayoutVars>
      </dgm:prSet>
      <dgm:spPr/>
    </dgm:pt>
    <dgm:pt modelId="{209779B6-D32E-8B4A-BB1E-D93CB10DD72D}" type="pres">
      <dgm:prSet presAssocID="{6BD223C9-D57B-40DA-A410-3899D8BC4ED0}" presName="FourNodes_3_text" presStyleLbl="node1" presStyleIdx="3" presStyleCnt="4">
        <dgm:presLayoutVars>
          <dgm:bulletEnabled val="1"/>
        </dgm:presLayoutVars>
      </dgm:prSet>
      <dgm:spPr/>
    </dgm:pt>
    <dgm:pt modelId="{3DD14E23-559E-BD4A-BAA7-5135A1FF8A3D}" type="pres">
      <dgm:prSet presAssocID="{6BD223C9-D57B-40DA-A410-3899D8BC4ED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D4FA906-7A99-564B-9430-B7E0E49CE60E}" type="presOf" srcId="{66951574-F960-48D4-8760-6A1295F93EE3}" destId="{8BF69F99-5196-A04E-B377-9E428C68C57F}" srcOrd="0" destOrd="0" presId="urn:microsoft.com/office/officeart/2005/8/layout/vProcess5"/>
    <dgm:cxn modelId="{6CD70F17-518D-7E4A-A7D7-D08E790B0778}" type="presOf" srcId="{832F5886-FBFF-4112-89A4-CFA79295C9A5}" destId="{018C6A3F-96F0-A345-B850-D8A4A922AC4C}" srcOrd="1" destOrd="0" presId="urn:microsoft.com/office/officeart/2005/8/layout/vProcess5"/>
    <dgm:cxn modelId="{D3849729-C973-B244-81E0-D3E7E7A1FA65}" type="presOf" srcId="{EC9FAEA1-B0D8-420A-A88A-76F173C98F4C}" destId="{03498BFA-E064-0243-88F9-E6D396DB7DBC}" srcOrd="0" destOrd="0" presId="urn:microsoft.com/office/officeart/2005/8/layout/vProcess5"/>
    <dgm:cxn modelId="{580E3F47-3A0D-AE4B-8B47-20FD6F4E76B2}" type="presOf" srcId="{66951574-F960-48D4-8760-6A1295F93EE3}" destId="{D4680014-5DBE-0944-B99C-97F25058C8D0}" srcOrd="1" destOrd="0" presId="urn:microsoft.com/office/officeart/2005/8/layout/vProcess5"/>
    <dgm:cxn modelId="{0616496B-5DBB-4874-B02B-54AA07876367}" srcId="{6BD223C9-D57B-40DA-A410-3899D8BC4ED0}" destId="{832F5886-FBFF-4112-89A4-CFA79295C9A5}" srcOrd="0" destOrd="0" parTransId="{E68720DC-A289-4A99-A56E-8C3D972176E5}" sibTransId="{EC9FAEA1-B0D8-420A-A88A-76F173C98F4C}"/>
    <dgm:cxn modelId="{8C5C9884-042E-4437-8012-A1B2D0F069AB}" srcId="{6BD223C9-D57B-40DA-A410-3899D8BC4ED0}" destId="{3E4FCA0A-A54F-445C-90B1-0DE93E1F3916}" srcOrd="3" destOrd="0" parTransId="{4A85688D-7407-466D-BE6E-529FF36F2117}" sibTransId="{915B521D-072C-4DBB-B606-633B11191CF0}"/>
    <dgm:cxn modelId="{752CD087-FAC9-EE41-887D-64401E1D0479}" type="presOf" srcId="{6BD223C9-D57B-40DA-A410-3899D8BC4ED0}" destId="{11310791-206F-6C43-A2D6-EC2A263E1BF7}" srcOrd="0" destOrd="0" presId="urn:microsoft.com/office/officeart/2005/8/layout/vProcess5"/>
    <dgm:cxn modelId="{0D276C94-AEF6-3C4F-9C97-E81AE80868B7}" type="presOf" srcId="{16C542B1-A503-437E-A947-914C5437A34D}" destId="{209779B6-D32E-8B4A-BB1E-D93CB10DD72D}" srcOrd="1" destOrd="0" presId="urn:microsoft.com/office/officeart/2005/8/layout/vProcess5"/>
    <dgm:cxn modelId="{502B7FA9-EA5E-7445-B862-06B9A830C4E2}" type="presOf" srcId="{832F5886-FBFF-4112-89A4-CFA79295C9A5}" destId="{279F29CD-47EA-6A4E-A4A2-D145AC7116E6}" srcOrd="0" destOrd="0" presId="urn:microsoft.com/office/officeart/2005/8/layout/vProcess5"/>
    <dgm:cxn modelId="{2997F6B7-5A36-134D-9D8F-7AB0A72F1D9D}" type="presOf" srcId="{C1F417F8-9AFC-4302-B9D8-8DFDB0EB7B4E}" destId="{A114E578-0806-C349-AAA0-70669E5FD54E}" srcOrd="0" destOrd="0" presId="urn:microsoft.com/office/officeart/2005/8/layout/vProcess5"/>
    <dgm:cxn modelId="{494470CB-2DA2-464E-9DAA-233172AA485E}" type="presOf" srcId="{3E4FCA0A-A54F-445C-90B1-0DE93E1F3916}" destId="{3DD14E23-559E-BD4A-BAA7-5135A1FF8A3D}" srcOrd="1" destOrd="0" presId="urn:microsoft.com/office/officeart/2005/8/layout/vProcess5"/>
    <dgm:cxn modelId="{0601AECF-3AA1-439D-BF4A-01CDB7A21049}" srcId="{6BD223C9-D57B-40DA-A410-3899D8BC4ED0}" destId="{16C542B1-A503-437E-A947-914C5437A34D}" srcOrd="2" destOrd="0" parTransId="{A6E76993-88C8-495B-BEA8-E66E132F22DF}" sibTransId="{8E7BCE81-BC0B-46CC-9DF7-FA5C35BF3F64}"/>
    <dgm:cxn modelId="{EB1C18D9-4884-8A41-8D73-2542C3CA9FAB}" type="presOf" srcId="{16C542B1-A503-437E-A947-914C5437A34D}" destId="{39F8C394-3E68-2B4A-A01A-808CA870E331}" srcOrd="0" destOrd="0" presId="urn:microsoft.com/office/officeart/2005/8/layout/vProcess5"/>
    <dgm:cxn modelId="{25B4CEDF-E99E-7F4D-ABF0-44ECE47B0B07}" type="presOf" srcId="{3E4FCA0A-A54F-445C-90B1-0DE93E1F3916}" destId="{6F677B0B-44AE-AE4E-A9EE-6CF75B2CF93B}" srcOrd="0" destOrd="0" presId="urn:microsoft.com/office/officeart/2005/8/layout/vProcess5"/>
    <dgm:cxn modelId="{A69108E5-F358-481E-BE41-3BDB747F5DB8}" srcId="{6BD223C9-D57B-40DA-A410-3899D8BC4ED0}" destId="{66951574-F960-48D4-8760-6A1295F93EE3}" srcOrd="1" destOrd="0" parTransId="{5B40DFDD-914E-419D-8537-FEA2709BC9F1}" sibTransId="{C1F417F8-9AFC-4302-B9D8-8DFDB0EB7B4E}"/>
    <dgm:cxn modelId="{F32546F8-38E0-8942-9CEA-358718D330C5}" type="presOf" srcId="{8E7BCE81-BC0B-46CC-9DF7-FA5C35BF3F64}" destId="{F294737A-D1DF-0247-A95C-E7F4D561D748}" srcOrd="0" destOrd="0" presId="urn:microsoft.com/office/officeart/2005/8/layout/vProcess5"/>
    <dgm:cxn modelId="{BF800E47-8828-934A-8925-9F9051AD44F2}" type="presParOf" srcId="{11310791-206F-6C43-A2D6-EC2A263E1BF7}" destId="{B4C5211A-D08E-B342-998A-BFCA2172EC60}" srcOrd="0" destOrd="0" presId="urn:microsoft.com/office/officeart/2005/8/layout/vProcess5"/>
    <dgm:cxn modelId="{6E7740C6-890C-C046-AD65-948C1E768D17}" type="presParOf" srcId="{11310791-206F-6C43-A2D6-EC2A263E1BF7}" destId="{279F29CD-47EA-6A4E-A4A2-D145AC7116E6}" srcOrd="1" destOrd="0" presId="urn:microsoft.com/office/officeart/2005/8/layout/vProcess5"/>
    <dgm:cxn modelId="{CA75C395-D7C8-224D-9861-DBFA27E63313}" type="presParOf" srcId="{11310791-206F-6C43-A2D6-EC2A263E1BF7}" destId="{8BF69F99-5196-A04E-B377-9E428C68C57F}" srcOrd="2" destOrd="0" presId="urn:microsoft.com/office/officeart/2005/8/layout/vProcess5"/>
    <dgm:cxn modelId="{C4F65B74-B6BF-FD44-A84B-AD325EEB1F63}" type="presParOf" srcId="{11310791-206F-6C43-A2D6-EC2A263E1BF7}" destId="{39F8C394-3E68-2B4A-A01A-808CA870E331}" srcOrd="3" destOrd="0" presId="urn:microsoft.com/office/officeart/2005/8/layout/vProcess5"/>
    <dgm:cxn modelId="{2C06E1E1-74E1-1D45-AF24-9338799C304E}" type="presParOf" srcId="{11310791-206F-6C43-A2D6-EC2A263E1BF7}" destId="{6F677B0B-44AE-AE4E-A9EE-6CF75B2CF93B}" srcOrd="4" destOrd="0" presId="urn:microsoft.com/office/officeart/2005/8/layout/vProcess5"/>
    <dgm:cxn modelId="{803012CA-5E69-364F-A6F1-B7C13C643867}" type="presParOf" srcId="{11310791-206F-6C43-A2D6-EC2A263E1BF7}" destId="{03498BFA-E064-0243-88F9-E6D396DB7DBC}" srcOrd="5" destOrd="0" presId="urn:microsoft.com/office/officeart/2005/8/layout/vProcess5"/>
    <dgm:cxn modelId="{3104F1E8-D4C3-9947-B3B0-181D05FCC189}" type="presParOf" srcId="{11310791-206F-6C43-A2D6-EC2A263E1BF7}" destId="{A114E578-0806-C349-AAA0-70669E5FD54E}" srcOrd="6" destOrd="0" presId="urn:microsoft.com/office/officeart/2005/8/layout/vProcess5"/>
    <dgm:cxn modelId="{8738D302-D4E8-E945-A5D0-4389F7DE589A}" type="presParOf" srcId="{11310791-206F-6C43-A2D6-EC2A263E1BF7}" destId="{F294737A-D1DF-0247-A95C-E7F4D561D748}" srcOrd="7" destOrd="0" presId="urn:microsoft.com/office/officeart/2005/8/layout/vProcess5"/>
    <dgm:cxn modelId="{68B60F00-4A55-B74D-A83F-DADA4535C9CD}" type="presParOf" srcId="{11310791-206F-6C43-A2D6-EC2A263E1BF7}" destId="{018C6A3F-96F0-A345-B850-D8A4A922AC4C}" srcOrd="8" destOrd="0" presId="urn:microsoft.com/office/officeart/2005/8/layout/vProcess5"/>
    <dgm:cxn modelId="{2D2D774E-9727-D24E-92D9-70843D9FE130}" type="presParOf" srcId="{11310791-206F-6C43-A2D6-EC2A263E1BF7}" destId="{D4680014-5DBE-0944-B99C-97F25058C8D0}" srcOrd="9" destOrd="0" presId="urn:microsoft.com/office/officeart/2005/8/layout/vProcess5"/>
    <dgm:cxn modelId="{D97DEFED-D0DB-D143-B1D5-72CF076CD792}" type="presParOf" srcId="{11310791-206F-6C43-A2D6-EC2A263E1BF7}" destId="{209779B6-D32E-8B4A-BB1E-D93CB10DD72D}" srcOrd="10" destOrd="0" presId="urn:microsoft.com/office/officeart/2005/8/layout/vProcess5"/>
    <dgm:cxn modelId="{682882A2-1D34-5D48-8007-606C504EE279}" type="presParOf" srcId="{11310791-206F-6C43-A2D6-EC2A263E1BF7}" destId="{3DD14E23-559E-BD4A-BAA7-5135A1FF8A3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5C3E9-8E5B-40BE-9F54-4E0ACF66A88E}">
      <dsp:nvSpPr>
        <dsp:cNvPr id="0" name=""/>
        <dsp:cNvSpPr/>
      </dsp:nvSpPr>
      <dsp:spPr>
        <a:xfrm>
          <a:off x="0" y="352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3F1EA-7BEA-4F6D-8261-676F19D48FF3}">
      <dsp:nvSpPr>
        <dsp:cNvPr id="0" name=""/>
        <dsp:cNvSpPr/>
      </dsp:nvSpPr>
      <dsp:spPr>
        <a:xfrm>
          <a:off x="146684" y="109456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AC9D6-46C2-4A78-B457-16EB81EE8E26}">
      <dsp:nvSpPr>
        <dsp:cNvPr id="0" name=""/>
        <dsp:cNvSpPr/>
      </dsp:nvSpPr>
      <dsp:spPr>
        <a:xfrm>
          <a:off x="560068" y="352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True cost drivers may be hidden or unmeasured</a:t>
          </a:r>
        </a:p>
      </dsp:txBody>
      <dsp:txXfrm>
        <a:off x="560068" y="352"/>
        <a:ext cx="10436699" cy="484907"/>
      </dsp:txXfrm>
    </dsp:sp>
    <dsp:sp modelId="{90DD7F65-5863-45B6-9C84-602C27C139D4}">
      <dsp:nvSpPr>
        <dsp:cNvPr id="0" name=""/>
        <dsp:cNvSpPr/>
      </dsp:nvSpPr>
      <dsp:spPr>
        <a:xfrm>
          <a:off x="0" y="606486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ED0E6-4E42-4C6A-B551-27D896EF2D1E}">
      <dsp:nvSpPr>
        <dsp:cNvPr id="0" name=""/>
        <dsp:cNvSpPr/>
      </dsp:nvSpPr>
      <dsp:spPr>
        <a:xfrm>
          <a:off x="146684" y="715591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770D7-7D4C-4868-8AAA-55AEEC8D3CC6}">
      <dsp:nvSpPr>
        <dsp:cNvPr id="0" name=""/>
        <dsp:cNvSpPr/>
      </dsp:nvSpPr>
      <dsp:spPr>
        <a:xfrm>
          <a:off x="560068" y="606486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quality issues such as missing or inconsistent records </a:t>
          </a:r>
        </a:p>
      </dsp:txBody>
      <dsp:txXfrm>
        <a:off x="560068" y="606486"/>
        <a:ext cx="10436699" cy="484907"/>
      </dsp:txXfrm>
    </dsp:sp>
    <dsp:sp modelId="{1D2B82DE-75F5-4A8B-BAEC-35560C1DF188}">
      <dsp:nvSpPr>
        <dsp:cNvPr id="0" name=""/>
        <dsp:cNvSpPr/>
      </dsp:nvSpPr>
      <dsp:spPr>
        <a:xfrm>
          <a:off x="0" y="1212621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850B46-63A7-49C3-98D5-A538476F872D}">
      <dsp:nvSpPr>
        <dsp:cNvPr id="0" name=""/>
        <dsp:cNvSpPr/>
      </dsp:nvSpPr>
      <dsp:spPr>
        <a:xfrm>
          <a:off x="146684" y="1321725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84C39-F8EE-4AA4-A5D8-B883D9667DAD}">
      <dsp:nvSpPr>
        <dsp:cNvPr id="0" name=""/>
        <dsp:cNvSpPr/>
      </dsp:nvSpPr>
      <dsp:spPr>
        <a:xfrm>
          <a:off x="560068" y="1212621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Complex integration between Medicaid and FDA datasets </a:t>
          </a:r>
        </a:p>
      </dsp:txBody>
      <dsp:txXfrm>
        <a:off x="560068" y="1212621"/>
        <a:ext cx="10436699" cy="484907"/>
      </dsp:txXfrm>
    </dsp:sp>
    <dsp:sp modelId="{9CAC829C-7CAE-4585-9A60-87A7D930F10B}">
      <dsp:nvSpPr>
        <dsp:cNvPr id="0" name=""/>
        <dsp:cNvSpPr/>
      </dsp:nvSpPr>
      <dsp:spPr>
        <a:xfrm>
          <a:off x="0" y="1836338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F81D6-337D-4947-970A-3AAAC2E8ABCE}">
      <dsp:nvSpPr>
        <dsp:cNvPr id="0" name=""/>
        <dsp:cNvSpPr/>
      </dsp:nvSpPr>
      <dsp:spPr>
        <a:xfrm>
          <a:off x="146684" y="1927860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4183F-0A9F-45F3-89E0-2F0A0AA3EDFB}">
      <dsp:nvSpPr>
        <dsp:cNvPr id="0" name=""/>
        <dsp:cNvSpPr/>
      </dsp:nvSpPr>
      <dsp:spPr>
        <a:xfrm>
          <a:off x="560068" y="1818756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 data volume requiring efficient processing </a:t>
          </a:r>
        </a:p>
      </dsp:txBody>
      <dsp:txXfrm>
        <a:off x="560068" y="1818756"/>
        <a:ext cx="10436699" cy="484907"/>
      </dsp:txXfrm>
    </dsp:sp>
    <dsp:sp modelId="{6F045D5F-8FA6-4816-858F-8EE4E9FEA92D}">
      <dsp:nvSpPr>
        <dsp:cNvPr id="0" name=""/>
        <dsp:cNvSpPr/>
      </dsp:nvSpPr>
      <dsp:spPr>
        <a:xfrm>
          <a:off x="0" y="2424890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64EEC-AA1B-496B-826D-B66468F3AFBB}">
      <dsp:nvSpPr>
        <dsp:cNvPr id="0" name=""/>
        <dsp:cNvSpPr/>
      </dsp:nvSpPr>
      <dsp:spPr>
        <a:xfrm>
          <a:off x="146684" y="2533995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BBD41-FD86-4ABC-9108-DFE86727F3CC}">
      <dsp:nvSpPr>
        <dsp:cNvPr id="0" name=""/>
        <dsp:cNvSpPr/>
      </dsp:nvSpPr>
      <dsp:spPr>
        <a:xfrm>
          <a:off x="560068" y="2424890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Difficulty mapping drugs into clear therapeutic classes </a:t>
          </a:r>
        </a:p>
      </dsp:txBody>
      <dsp:txXfrm>
        <a:off x="560068" y="2424890"/>
        <a:ext cx="10436699" cy="484907"/>
      </dsp:txXfrm>
    </dsp:sp>
    <dsp:sp modelId="{99A55236-43D5-44FE-B56C-C5CCAF1C06E1}">
      <dsp:nvSpPr>
        <dsp:cNvPr id="0" name=""/>
        <dsp:cNvSpPr/>
      </dsp:nvSpPr>
      <dsp:spPr>
        <a:xfrm>
          <a:off x="0" y="3031025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B1B1B-2AF1-4913-931D-1B7F30762BEA}">
      <dsp:nvSpPr>
        <dsp:cNvPr id="0" name=""/>
        <dsp:cNvSpPr/>
      </dsp:nvSpPr>
      <dsp:spPr>
        <a:xfrm>
          <a:off x="146684" y="3140129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40568C-7B98-4E3E-A8A8-6CBFE0D769A2}">
      <dsp:nvSpPr>
        <dsp:cNvPr id="0" name=""/>
        <dsp:cNvSpPr/>
      </dsp:nvSpPr>
      <dsp:spPr>
        <a:xfrm>
          <a:off x="560068" y="3031025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Challenges isolating true cost drivers beyond total spending</a:t>
          </a:r>
        </a:p>
      </dsp:txBody>
      <dsp:txXfrm>
        <a:off x="560068" y="3031025"/>
        <a:ext cx="10436699" cy="484907"/>
      </dsp:txXfrm>
    </dsp:sp>
    <dsp:sp modelId="{7CED1D2E-4F59-4E50-95C0-F30BAB1BF13A}">
      <dsp:nvSpPr>
        <dsp:cNvPr id="0" name=""/>
        <dsp:cNvSpPr/>
      </dsp:nvSpPr>
      <dsp:spPr>
        <a:xfrm>
          <a:off x="0" y="3637160"/>
          <a:ext cx="10996768" cy="484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399B6E-FD7D-4A2F-BCE2-54408CE20E2C}">
      <dsp:nvSpPr>
        <dsp:cNvPr id="0" name=""/>
        <dsp:cNvSpPr/>
      </dsp:nvSpPr>
      <dsp:spPr>
        <a:xfrm>
          <a:off x="146684" y="3746264"/>
          <a:ext cx="266699" cy="266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81298-7C90-4240-9B82-0A8DCACA0B0E}">
      <dsp:nvSpPr>
        <dsp:cNvPr id="0" name=""/>
        <dsp:cNvSpPr/>
      </dsp:nvSpPr>
      <dsp:spPr>
        <a:xfrm>
          <a:off x="560068" y="3637160"/>
          <a:ext cx="10436699" cy="484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19" tIns="51319" rIns="51319" bIns="513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Regional and temporal variability complicates trend analysis</a:t>
          </a:r>
        </a:p>
      </dsp:txBody>
      <dsp:txXfrm>
        <a:off x="560068" y="3637160"/>
        <a:ext cx="10436699" cy="4849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3B7AB-015E-4140-BDA7-B49B58A396D3}">
      <dsp:nvSpPr>
        <dsp:cNvPr id="0" name=""/>
        <dsp:cNvSpPr/>
      </dsp:nvSpPr>
      <dsp:spPr>
        <a:xfrm>
          <a:off x="0" y="1248"/>
          <a:ext cx="11101177" cy="63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77264-D280-40A7-A98C-D57A9DC71B24}">
      <dsp:nvSpPr>
        <dsp:cNvPr id="0" name=""/>
        <dsp:cNvSpPr/>
      </dsp:nvSpPr>
      <dsp:spPr>
        <a:xfrm>
          <a:off x="191353" y="143576"/>
          <a:ext cx="347914" cy="347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FE956-69A4-4700-9E59-AB6D5732FB8B}">
      <dsp:nvSpPr>
        <dsp:cNvPr id="0" name=""/>
        <dsp:cNvSpPr/>
      </dsp:nvSpPr>
      <dsp:spPr>
        <a:xfrm>
          <a:off x="730620" y="1248"/>
          <a:ext cx="10370557" cy="63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47" tIns="66947" rIns="66947" bIns="6694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"/>
            </a:rPr>
            <a:t>Medicaid spending is concentrated among a small number of high-cost drugs </a:t>
          </a:r>
        </a:p>
      </dsp:txBody>
      <dsp:txXfrm>
        <a:off x="730620" y="1248"/>
        <a:ext cx="10370557" cy="632571"/>
      </dsp:txXfrm>
    </dsp:sp>
    <dsp:sp modelId="{CBC94AAC-9B47-4A0F-8B78-01BC45B3658B}">
      <dsp:nvSpPr>
        <dsp:cNvPr id="0" name=""/>
        <dsp:cNvSpPr/>
      </dsp:nvSpPr>
      <dsp:spPr>
        <a:xfrm>
          <a:off x="0" y="791963"/>
          <a:ext cx="11101177" cy="63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B14F1-909F-4C13-B663-EAB9AEBBDD8C}">
      <dsp:nvSpPr>
        <dsp:cNvPr id="0" name=""/>
        <dsp:cNvSpPr/>
      </dsp:nvSpPr>
      <dsp:spPr>
        <a:xfrm>
          <a:off x="191353" y="934291"/>
          <a:ext cx="347914" cy="347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06066-1475-459D-98A4-39A10A8CB64A}">
      <dsp:nvSpPr>
        <dsp:cNvPr id="0" name=""/>
        <dsp:cNvSpPr/>
      </dsp:nvSpPr>
      <dsp:spPr>
        <a:xfrm>
          <a:off x="730620" y="791963"/>
          <a:ext cx="10370557" cy="63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47" tIns="66947" rIns="66947" bIns="6694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"/>
            </a:rPr>
            <a:t>The top drug visualization shows </a:t>
          </a:r>
          <a:r>
            <a:rPr lang="en-US" sz="1600" b="0" kern="1200">
              <a:latin typeface="Aptos"/>
            </a:rPr>
            <a:t>Vraylar</a:t>
          </a:r>
          <a:r>
            <a:rPr lang="en-US" sz="1600" kern="1200">
              <a:latin typeface="Aptos"/>
            </a:rPr>
            <a:t> as the highest reimbursement per capita drug </a:t>
          </a:r>
        </a:p>
      </dsp:txBody>
      <dsp:txXfrm>
        <a:off x="730620" y="791963"/>
        <a:ext cx="10370557" cy="632571"/>
      </dsp:txXfrm>
    </dsp:sp>
    <dsp:sp modelId="{201EFADD-C315-4020-82C8-ACD33D43F4A2}">
      <dsp:nvSpPr>
        <dsp:cNvPr id="0" name=""/>
        <dsp:cNvSpPr/>
      </dsp:nvSpPr>
      <dsp:spPr>
        <a:xfrm>
          <a:off x="0" y="1582677"/>
          <a:ext cx="11101177" cy="63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7EF6A-9962-440B-9DC9-7D6DC2FD8AD0}">
      <dsp:nvSpPr>
        <dsp:cNvPr id="0" name=""/>
        <dsp:cNvSpPr/>
      </dsp:nvSpPr>
      <dsp:spPr>
        <a:xfrm>
          <a:off x="191353" y="1725006"/>
          <a:ext cx="347914" cy="347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7DE91-5DF8-4526-B411-120181CA6442}">
      <dsp:nvSpPr>
        <dsp:cNvPr id="0" name=""/>
        <dsp:cNvSpPr/>
      </dsp:nvSpPr>
      <dsp:spPr>
        <a:xfrm>
          <a:off x="730620" y="1582677"/>
          <a:ext cx="10370557" cy="63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47" tIns="66947" rIns="66947" bIns="6694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"/>
            </a:rPr>
            <a:t>Cost-control efforts should begin with the highest-cost drugs</a:t>
          </a:r>
        </a:p>
      </dsp:txBody>
      <dsp:txXfrm>
        <a:off x="730620" y="1582677"/>
        <a:ext cx="10370557" cy="632571"/>
      </dsp:txXfrm>
    </dsp:sp>
    <dsp:sp modelId="{8F64B498-8113-4DE5-BF20-E1A6DD627D25}">
      <dsp:nvSpPr>
        <dsp:cNvPr id="0" name=""/>
        <dsp:cNvSpPr/>
      </dsp:nvSpPr>
      <dsp:spPr>
        <a:xfrm>
          <a:off x="0" y="2373392"/>
          <a:ext cx="11101177" cy="63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DF7F1-FA63-453F-BB63-E3E278BA1F37}">
      <dsp:nvSpPr>
        <dsp:cNvPr id="0" name=""/>
        <dsp:cNvSpPr/>
      </dsp:nvSpPr>
      <dsp:spPr>
        <a:xfrm>
          <a:off x="191353" y="2515721"/>
          <a:ext cx="347914" cy="347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AE8B5-0281-4DF7-A7C2-9756303A843F}">
      <dsp:nvSpPr>
        <dsp:cNvPr id="0" name=""/>
        <dsp:cNvSpPr/>
      </dsp:nvSpPr>
      <dsp:spPr>
        <a:xfrm>
          <a:off x="730620" y="2373392"/>
          <a:ext cx="10370557" cy="63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47" tIns="66947" rIns="66947" bIns="6694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"/>
            </a:rPr>
            <a:t>Strengthen rebate negotiation, review therapeutic alternatives, and apply prior authorization where appropriate </a:t>
          </a:r>
        </a:p>
      </dsp:txBody>
      <dsp:txXfrm>
        <a:off x="730620" y="2373392"/>
        <a:ext cx="10370557" cy="6325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F29CD-47EA-6A4E-A4A2-D145AC7116E6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Medicaid drug spending is growing and will intensify as new specialty drugs enter the market</a:t>
          </a:r>
        </a:p>
      </dsp:txBody>
      <dsp:txXfrm>
        <a:off x="23773" y="23773"/>
        <a:ext cx="7797822" cy="764123"/>
      </dsp:txXfrm>
    </dsp:sp>
    <dsp:sp modelId="{8BF69F99-5196-A04E-B377-9E428C68C57F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tx2">
            <a:lumMod val="90000"/>
            <a:lumOff val="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Data-driven analysis enables precision cost reduction without cutting patient access or benefits</a:t>
          </a:r>
        </a:p>
      </dsp:txBody>
      <dsp:txXfrm>
        <a:off x="755937" y="983018"/>
        <a:ext cx="7434967" cy="764123"/>
      </dsp:txXfrm>
    </dsp:sp>
    <dsp:sp modelId="{39F8C394-3E68-2B4A-A01A-808CA870E331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small number of drugs and states represent the greatest opportunity for immediate impact</a:t>
          </a:r>
        </a:p>
      </dsp:txBody>
      <dsp:txXfrm>
        <a:off x="1477174" y="1942263"/>
        <a:ext cx="7445895" cy="764123"/>
      </dsp:txXfrm>
    </dsp:sp>
    <dsp:sp modelId="{6F677B0B-44AE-AE4E-A9EE-6CF75B2CF93B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Early intervention through policy reform and rebate negotiation creates long-term sustainability</a:t>
          </a:r>
        </a:p>
      </dsp:txBody>
      <dsp:txXfrm>
        <a:off x="2209338" y="2901508"/>
        <a:ext cx="7434967" cy="764123"/>
      </dsp:txXfrm>
    </dsp:sp>
    <dsp:sp modelId="{03498BFA-E064-0243-88F9-E6D396DB7DBC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A114E578-0806-C349-AAA0-70669E5FD54E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F294737A-D1DF-0247-A95C-E7F4D561D748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8C07E-4E07-7C42-B66C-6D525835C413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4ADE3-1B3B-B641-B62D-09C59B575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4ADE3-1B3B-B641-B62D-09C59B5756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07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DBF79-05DC-404A-B56F-75F1912DAB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87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DBF79-05DC-404A-B56F-75F1912DAB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0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4ADE3-1B3B-B641-B62D-09C59B57566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2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4109-BD42-9C38-E96E-BC61715E2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155D7-0413-821D-1CC8-9C1BD2E10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75DBA-3FE5-0334-AAF9-8520527E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1038F-7684-0DFD-8C64-5E7DECB2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FD9E5-CE86-EDDE-5151-5518CB70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3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457F1-712E-88E0-1F69-19BDFBD8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762B-433E-7D21-DB84-4CFBAD60D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7F5CA-631A-02D3-87CD-3352B030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BF3F-D37F-7143-0E23-7EBA6043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178F5-5B80-EBBE-8735-391643E9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0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57A6-4681-6A0B-9273-4963E0893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17FFE-8941-B956-7B77-E9E0731A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14C98-BE6F-841E-D436-20E93A59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3A07-ED7E-BCA8-142B-CB3C95A6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3B9E8-BAA3-2E53-2B08-48263D10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2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FBA8-E904-1B4D-7041-63E782E1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1BCA-4ACC-1D77-FB55-ADB68EB12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D9363-1EFC-7C08-C68D-CDF0E17AD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F8E9F-CA99-81CF-8AF5-2C7A80F4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A5C5E-A8B7-9FDD-144F-4B83F5CB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C605C-61B3-EDAC-B3D9-C15E76E9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7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4E4-BEB6-5A9E-6416-45F81534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8936B-F2D2-6C58-5868-CF1E59B6B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48127-9D86-FE78-4230-F731FC176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3CEB1-CB8C-F8F2-1205-3C8E38842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073D4-04BB-4885-F200-12F3DAE61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3184D-E69B-695F-2301-77F26DD2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84A0C-95DA-B7B9-EED0-688D158C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8619F-F0BC-1216-B690-CB8C24C8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4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28B0-1D35-BF4F-1FDA-E22EE14A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DDFCE-6495-AF21-2F17-5628DA46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1F0C5-E640-6388-883E-E5F7CE97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DA9CB-B62A-E552-FDF0-6A018FD5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7ED2A-9C81-F970-648E-99540489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D15D-4D43-E025-E861-D1C548EF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E7AB1-14C6-06B8-19CA-01907991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8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64BD-77AE-C76D-8A21-0E55759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FBBFC-EADF-4D87-3486-1A853741B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BF218-1290-A2FC-C100-F40586A14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3D7B7-38DF-D9C8-43A6-0C06D7F0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6C740-E95A-0B1A-6795-0DEC7FCC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8840E-2498-6530-ACBC-C0E3A57D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3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6F2C-E3D8-ED0E-54D6-C553A1A2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4EE56-14DC-7739-F5A2-EE8F23AA8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DA985-2EAE-189C-2328-E95748104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1B055-89AB-2B07-A7BE-A0E45AE6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B74B7-6B32-FB2D-B0AE-5DD6728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CB43E-3679-E912-BAF9-05092023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5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FB37-CFA9-0D7D-E143-2648FF93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39F76-5AD8-2353-A1DC-0283B3485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2C3-D4AB-7E24-47F0-6239D54F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0F20E-BFBE-3B5B-D55F-E63BECC7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1CCA-7890-5B1E-9C6C-1221A2C8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75E44-A45B-1BE3-67CA-7586C4301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1785D-2295-65D3-FEF4-9F1A65E8C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3A958-339A-9714-2F3B-67050B19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F3E92-B755-696B-ACFE-ECFD5609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3CB3E-A5D9-4541-8542-139FC599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1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95251-FE39-E742-105A-3CBEF455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589FD-8917-3617-14A5-8D46D1DF5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BB753-E6CD-BCF2-ACD5-6237D71CB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A6316-6BD8-FB41-B01C-0A7B30808763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E6610-8B65-7C19-FBED-F1F139DC8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18EA-0AB9-57DB-CC7D-CFEBC2FC8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08098-E315-3C4C-9817-1E5BBFDDF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3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hyperlink" Target="https://www.census.gov/data/tables/time-series/demo/popest/2020s-state-total.html" TargetMode="External"/><Relationship Id="rId5" Type="http://schemas.openxmlformats.org/officeDocument/2006/relationships/hyperlink" Target="https://data.medicaid.gov/dataset/158a1baa-5506-400a-8ec3-97756f0b0536/data" TargetMode="External"/><Relationship Id="rId4" Type="http://schemas.openxmlformats.org/officeDocument/2006/relationships/hyperlink" Target="https://www.medicaid.gov/medicaid/prescription-drugs/state-drug-utilization-dat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3.xml"/><Relationship Id="rId9" Type="http://schemas.microsoft.com/office/2007/relationships/diagramDrawing" Target="../diagrams/drawin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microsoft.com/office/2007/relationships/diagramDrawing" Target="../diagrams/drawin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5" Type="http://schemas.openxmlformats.org/officeDocument/2006/relationships/image" Target="../media/image2.pn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FED8-51E2-C5CD-F513-1C2039A56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314" y="2269600"/>
            <a:ext cx="4489869" cy="1539978"/>
          </a:xfrm>
        </p:spPr>
        <p:txBody>
          <a:bodyPr>
            <a:normAutofit/>
          </a:bodyPr>
          <a:lstStyle/>
          <a:p>
            <a:pPr algn="l"/>
            <a:r>
              <a:rPr lang="en-US" sz="5000"/>
              <a:t>Medicaid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93A85-9802-51E4-C3C4-F19AB5840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315" y="4741497"/>
            <a:ext cx="4320339" cy="14503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Anita Babic, Melanie Breeding, </a:t>
            </a:r>
            <a:br>
              <a:rPr lang="en-US"/>
            </a:br>
            <a:r>
              <a:rPr lang="en-US"/>
              <a:t>Nate Esterline, Riya Malhotra, Yajat Mehta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2756A-2A10-6143-8B20-DF898120D6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26" r="67" b="-1"/>
          <a:stretch>
            <a:fillRect/>
          </a:stretch>
        </p:blipFill>
        <p:spPr>
          <a:xfrm>
            <a:off x="20" y="1"/>
            <a:ext cx="6345219" cy="6858000"/>
          </a:xfrm>
          <a:prstGeom prst="rect">
            <a:avLst/>
          </a:prstGeom>
        </p:spPr>
      </p:pic>
      <p:pic>
        <p:nvPicPr>
          <p:cNvPr id="16" name="Audio Recording Apr 12, 2026 at 10:26:44 PM">
            <a:hlinkClick r:id="" action="ppaction://media"/>
            <a:extLst>
              <a:ext uri="{FF2B5EF4-FFF2-40B4-BE49-F238E27FC236}">
                <a16:creationId xmlns:a16="http://schemas.microsoft.com/office/drawing/2014/main" id="{7E2A5E4B-EF18-226F-622B-A5F0A587DF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83254" y="25970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6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2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84B8-7490-03C5-588B-6E53E966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Team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EA7C2-78DA-7820-27D8-588415A21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887" y="1680899"/>
            <a:ext cx="3069769" cy="3793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0F8326-E802-AA42-32C4-8E9177A65161}"/>
              </a:ext>
            </a:extLst>
          </p:cNvPr>
          <p:cNvSpPr txBox="1"/>
          <p:nvPr/>
        </p:nvSpPr>
        <p:spPr>
          <a:xfrm>
            <a:off x="1915887" y="5729260"/>
            <a:ext cx="306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Nate Esterline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A040CC-1CD3-5942-D476-6F8100CF9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635" y="1680898"/>
            <a:ext cx="3793477" cy="3793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A1180-31E6-660F-D8E0-F2E4389EA6F2}"/>
              </a:ext>
            </a:extLst>
          </p:cNvPr>
          <p:cNvSpPr txBox="1"/>
          <p:nvPr/>
        </p:nvSpPr>
        <p:spPr>
          <a:xfrm>
            <a:off x="6482635" y="5729260"/>
            <a:ext cx="381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Riya Malhotra</a:t>
            </a:r>
          </a:p>
        </p:txBody>
      </p:sp>
      <p:pic>
        <p:nvPicPr>
          <p:cNvPr id="12" name="Audio Recording Mar 29, 2026 at 7:43:40 PM">
            <a:hlinkClick r:id="" action="ppaction://media"/>
            <a:extLst>
              <a:ext uri="{FF2B5EF4-FFF2-40B4-BE49-F238E27FC236}">
                <a16:creationId xmlns:a16="http://schemas.microsoft.com/office/drawing/2014/main" id="{311CFE45-C648-2507-97C1-05BA22D683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88891" y="5913926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9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UpDiag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12B3-4B87-EA9E-85B3-743B18D4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Team 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AE7A12-7574-97A9-4DDE-196ECBC1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57390" y="1828801"/>
            <a:ext cx="3817916" cy="38179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E234FE-6A44-AF9F-2A80-F8566C461E96}"/>
              </a:ext>
            </a:extLst>
          </p:cNvPr>
          <p:cNvSpPr txBox="1"/>
          <p:nvPr/>
        </p:nvSpPr>
        <p:spPr>
          <a:xfrm>
            <a:off x="1557390" y="5794620"/>
            <a:ext cx="381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Melanie Breeding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87E327-5C0E-067D-EDBF-C0536DC2A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07" y="1793360"/>
            <a:ext cx="3645003" cy="38179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8C9C8D-A753-C13B-BE21-50F553022E4B}"/>
              </a:ext>
            </a:extLst>
          </p:cNvPr>
          <p:cNvSpPr txBox="1"/>
          <p:nvPr/>
        </p:nvSpPr>
        <p:spPr>
          <a:xfrm>
            <a:off x="6989607" y="5794620"/>
            <a:ext cx="362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Yajat Mehta</a:t>
            </a:r>
          </a:p>
        </p:txBody>
      </p:sp>
      <p:pic>
        <p:nvPicPr>
          <p:cNvPr id="12" name="Audio Recording Mar 29, 2026 at 7:45:36 PM">
            <a:hlinkClick r:id="" action="ppaction://media"/>
            <a:extLst>
              <a:ext uri="{FF2B5EF4-FFF2-40B4-BE49-F238E27FC236}">
                <a16:creationId xmlns:a16="http://schemas.microsoft.com/office/drawing/2014/main" id="{1A226E1E-1EB6-C028-A7DB-4F5B57DD4C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8822" y="215106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3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83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F019-7AA8-9F40-FE58-DF5D965C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Team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03307-68F9-6785-67B1-14A8590322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30505" r="-114"/>
          <a:stretch>
            <a:fillRect/>
          </a:stretch>
        </p:blipFill>
        <p:spPr>
          <a:xfrm>
            <a:off x="4234521" y="1876911"/>
            <a:ext cx="3409828" cy="3602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0CFD1-E8C4-0AE7-E08D-96EA6E87462F}"/>
              </a:ext>
            </a:extLst>
          </p:cNvPr>
          <p:cNvSpPr txBox="1"/>
          <p:nvPr/>
        </p:nvSpPr>
        <p:spPr>
          <a:xfrm>
            <a:off x="4234521" y="5675106"/>
            <a:ext cx="340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Anita Babic</a:t>
            </a:r>
          </a:p>
        </p:txBody>
      </p:sp>
      <p:pic>
        <p:nvPicPr>
          <p:cNvPr id="7" name="Audio Recording Mar 29, 2026 at 7:46:28 PM">
            <a:hlinkClick r:id="" action="ppaction://media"/>
            <a:extLst>
              <a:ext uri="{FF2B5EF4-FFF2-40B4-BE49-F238E27FC236}">
                <a16:creationId xmlns:a16="http://schemas.microsoft.com/office/drawing/2014/main" id="{0C50DE67-D0C3-33D3-BEF2-4552B86C47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88322" y="585977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4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84EE-90A0-5929-25A1-4BD06ACF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Organization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C227-330D-C136-30D2-CA4A15E8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89" y="2217060"/>
            <a:ext cx="6244040" cy="32430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300">
                <a:latin typeface="+mj-lt"/>
                <a:cs typeface="Arial"/>
              </a:rPr>
              <a:t>Medicaid is a program run by Federal and State governments to provide health coverage to millions of Americans</a:t>
            </a:r>
          </a:p>
          <a:p>
            <a:r>
              <a:rPr lang="en-US" sz="2300">
                <a:latin typeface="+mj-lt"/>
                <a:cs typeface="Arial"/>
              </a:rPr>
              <a:t>Provides help to primarily low-income adults, children, pregnant women, elderly adults, and people with disabilities</a:t>
            </a:r>
          </a:p>
          <a:p>
            <a:r>
              <a:rPr lang="en-US" sz="2300">
                <a:latin typeface="+mj-lt"/>
                <a:cs typeface="Arial"/>
              </a:rPr>
              <a:t>Each state manages its own program</a:t>
            </a:r>
          </a:p>
          <a:p>
            <a:r>
              <a:rPr lang="en-US" sz="2300">
                <a:latin typeface="+mj-lt"/>
                <a:cs typeface="Arial"/>
              </a:rPr>
              <a:t>It serves approximately 83 million Americans</a:t>
            </a:r>
            <a:endParaRPr lang="en-US" sz="2300">
              <a:latin typeface="+mj-lt"/>
            </a:endParaRPr>
          </a:p>
          <a:p>
            <a:endParaRPr lang="en-US" sz="2300"/>
          </a:p>
        </p:txBody>
      </p:sp>
      <p:pic>
        <p:nvPicPr>
          <p:cNvPr id="4" name="Picture 3" descr="Medicaid Logo PNG Vector (SVG) Free Download">
            <a:extLst>
              <a:ext uri="{FF2B5EF4-FFF2-40B4-BE49-F238E27FC236}">
                <a16:creationId xmlns:a16="http://schemas.microsoft.com/office/drawing/2014/main" id="{3D2C9A91-39F1-FCC0-BE7E-F3424B845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223" y="1847660"/>
            <a:ext cx="4004097" cy="398187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" name="Proposal">
            <a:hlinkClick r:id="" action="ppaction://media"/>
            <a:extLst>
              <a:ext uri="{FF2B5EF4-FFF2-40B4-BE49-F238E27FC236}">
                <a16:creationId xmlns:a16="http://schemas.microsoft.com/office/drawing/2014/main" id="{3ED27C00-8687-E359-3DDA-1F5E882A65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4589" y="387804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8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BE4F8-38DC-D961-BFB9-409842B8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162880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Problem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034C-FB8D-CFB2-CB35-F4027657C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49" y="511388"/>
            <a:ext cx="5935038" cy="56347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Aptos Display" panose="020B0004020202020204" pitchFamily="34" charset="0"/>
              </a:rPr>
              <a:t>Medicaid pharmaceutical costs are rising rapidly, straining resources</a:t>
            </a:r>
          </a:p>
          <a:p>
            <a:r>
              <a:rPr lang="en-IN"/>
              <a:t>High cost, low prescription volume drugs</a:t>
            </a:r>
            <a:r>
              <a:rPr lang="en-US">
                <a:latin typeface="Aptos Display" panose="020B0004020202020204" pitchFamily="34" charset="0"/>
              </a:rPr>
              <a:t>are difficult to identify without clean datasets</a:t>
            </a:r>
          </a:p>
          <a:p>
            <a:r>
              <a:rPr lang="en-US">
                <a:latin typeface="Aptos Display" panose="020B0004020202020204" pitchFamily="34" charset="0"/>
              </a:rPr>
              <a:t>Variations across states and drug types create complex spending patterns</a:t>
            </a:r>
          </a:p>
          <a:p>
            <a:r>
              <a:rPr lang="en-US">
                <a:latin typeface="Aptos Display" panose="020B0004020202020204" pitchFamily="34" charset="0"/>
              </a:rPr>
              <a:t>Data-driven analysis can help to determine high-cost areas and potential savings</a:t>
            </a:r>
          </a:p>
        </p:txBody>
      </p:sp>
      <p:pic>
        <p:nvPicPr>
          <p:cNvPr id="6" name="Picture 5" descr="Colorful pills stacked to make a bar graph">
            <a:extLst>
              <a:ext uri="{FF2B5EF4-FFF2-40B4-BE49-F238E27FC236}">
                <a16:creationId xmlns:a16="http://schemas.microsoft.com/office/drawing/2014/main" id="{7CA9015F-7789-E3ED-73B0-FD97E80C13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95" r="3419" b="-1"/>
          <a:stretch>
            <a:fillRect/>
          </a:stretch>
        </p:blipFill>
        <p:spPr>
          <a:xfrm>
            <a:off x="571331" y="3569945"/>
            <a:ext cx="2992148" cy="2776667"/>
          </a:xfrm>
          <a:prstGeom prst="rect">
            <a:avLst/>
          </a:prstGeom>
        </p:spPr>
      </p:pic>
      <p:pic>
        <p:nvPicPr>
          <p:cNvPr id="34" name="Audio 33">
            <a:extLst>
              <a:ext uri="{FF2B5EF4-FFF2-40B4-BE49-F238E27FC236}">
                <a16:creationId xmlns:a16="http://schemas.microsoft.com/office/drawing/2014/main" id="{B22D4074-F05F-11B1-49C1-E23E115738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2233" y="574983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7"/>
    </mc:Choice>
    <mc:Fallback xmlns="">
      <p:transition spd="slow" advTm="976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0E96A0-0B60-F278-6345-CBB9C139FBDA}"/>
              </a:ext>
            </a:extLst>
          </p:cNvPr>
          <p:cNvSpPr txBox="1"/>
          <p:nvPr/>
        </p:nvSpPr>
        <p:spPr>
          <a:xfrm>
            <a:off x="514433" y="1241078"/>
            <a:ext cx="11163134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rtl="0"/>
            <a:r>
              <a:rPr lang="en-GB" sz="2400" b="1" baseline="0">
                <a:latin typeface="Neue Haas Grotesk Text Pro"/>
                <a:ea typeface="Arial"/>
                <a:cs typeface="Arial"/>
              </a:rPr>
              <a:t>State Drug Utilization Data</a:t>
            </a:r>
            <a:r>
              <a:rPr lang="en-GB" sz="2400" b="1">
                <a:latin typeface="Neue Haas Grotesk Text Pro"/>
                <a:ea typeface="Arial"/>
                <a:cs typeface="Arial"/>
              </a:rPr>
              <a:t>:</a:t>
            </a:r>
            <a:r>
              <a:rPr lang="en-GB" baseline="0">
                <a:latin typeface="Neue Haas Grotesk Text Pro"/>
                <a:ea typeface="Arial"/>
                <a:cs typeface="Arial"/>
              </a:rPr>
              <a:t> </a:t>
            </a:r>
            <a:r>
              <a:rPr lang="en-US" sz="14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https://www.medicaid.gov/medicaid/prescription-drugs/state-drug-utilization-data</a:t>
            </a:r>
            <a:endParaRPr lang="en-US" sz="1400"/>
          </a:p>
          <a:p>
            <a:pPr lvl="0" rtl="0"/>
            <a:endParaRPr lang="en-US" sz="1400">
              <a:ea typeface="+mn-lt"/>
              <a:cs typeface="+mn-lt"/>
            </a:endParaRPr>
          </a:p>
          <a:p>
            <a:pPr lvl="0" rtl="0"/>
            <a:r>
              <a:rPr lang="en-US" sz="2400" b="1">
                <a:latin typeface="Neue Haas Grotesk Text Pro"/>
                <a:cs typeface="Arial"/>
              </a:rPr>
              <a:t>All States 2025: </a:t>
            </a:r>
            <a:r>
              <a:rPr lang="en-US" sz="1400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US" sz="1400" u="sng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ttps://data.medicaid.gov/dataset/158a1baa-5506-400a-8ec3-97756f0b0536/data</a:t>
            </a:r>
            <a:endParaRPr lang="en-US" sz="1400" u="sng">
              <a:ea typeface="+mn-lt"/>
              <a:cs typeface="+mn-lt"/>
            </a:endParaRPr>
          </a:p>
          <a:p>
            <a:pPr lvl="0" rtl="0"/>
            <a:endParaRPr lang="en-US" sz="1400" u="sng">
              <a:ea typeface="+mn-lt"/>
              <a:cs typeface="+mn-lt"/>
            </a:endParaRPr>
          </a:p>
          <a:p>
            <a:r>
              <a:rPr lang="en-US" sz="2400" b="1">
                <a:latin typeface="Neue Haas Grotesk Text Pro"/>
                <a:cs typeface="Arial"/>
              </a:rPr>
              <a:t>Population 2024: </a:t>
            </a:r>
            <a:r>
              <a:rPr lang="en-US" sz="1400" u="sng"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https://www.census.gov/data/tables/time-series/demo/popest/2020s-state-total</a:t>
            </a:r>
            <a:r>
              <a:rPr lang="en-US" sz="1400" u="sng">
                <a:solidFill>
                  <a:srgbClr val="467886"/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400" u="sng"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endParaRPr lang="en-US" sz="1400" u="sng">
              <a:ea typeface="+mn-lt"/>
              <a:cs typeface="+mn-lt"/>
            </a:endParaRPr>
          </a:p>
          <a:p>
            <a:endParaRPr lang="en-GB" sz="1400" u="sng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These datasets include fields such as drug name, national drug code (NDC), reimbursement amounts, state, and most recent population census data. </a:t>
            </a:r>
          </a:p>
          <a:p>
            <a:endParaRPr lang="en-GB" sz="2000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That makes it the main sources for identifying:</a:t>
            </a:r>
            <a:endParaRPr lang="en-GB"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Highest-cost drugs 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Utilization patterns </a:t>
            </a:r>
            <a:endParaRPr lang="en-GB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State-level and differences in reimbursement and prescription volume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Population per US state in 2024</a:t>
            </a:r>
            <a:endParaRPr lang="en-GB"/>
          </a:p>
          <a:p>
            <a:pPr algn="ctr"/>
            <a:endParaRPr lang="en-GB" sz="2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E31BB56-2F91-506E-74F1-7A0A8D11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432353"/>
            <a:ext cx="10653578" cy="653617"/>
          </a:xfrm>
        </p:spPr>
        <p:txBody>
          <a:bodyPr anchor="t">
            <a:normAutofit/>
          </a:bodyPr>
          <a:lstStyle/>
          <a:p>
            <a:pPr algn="ctr"/>
            <a:r>
              <a:rPr lang="en-US" sz="4000"/>
              <a:t>Data Sources</a:t>
            </a:r>
          </a:p>
        </p:txBody>
      </p:sp>
      <p:pic>
        <p:nvPicPr>
          <p:cNvPr id="3" name="Audio Recording May 7, 2026 at 6:55:30 PM">
            <a:hlinkClick r:id="" action="ppaction://media"/>
            <a:extLst>
              <a:ext uri="{FF2B5EF4-FFF2-40B4-BE49-F238E27FC236}">
                <a16:creationId xmlns:a16="http://schemas.microsoft.com/office/drawing/2014/main" id="{197A11E6-F98E-7D8A-D777-9C0B7C748C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38647" y="569247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7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0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5338464-B5C4-9A95-B6F6-79233FA1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96" y="547156"/>
            <a:ext cx="5214723" cy="1616203"/>
          </a:xfrm>
        </p:spPr>
        <p:txBody>
          <a:bodyPr anchor="t">
            <a:normAutofit/>
          </a:bodyPr>
          <a:lstStyle/>
          <a:p>
            <a:r>
              <a:rPr lang="en-US"/>
              <a:t>Data Tools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ED4234-28A0-7A2C-34AF-43BD958B4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08" y="1795030"/>
            <a:ext cx="5214723" cy="4286998"/>
          </a:xfrm>
        </p:spPr>
        <p:txBody>
          <a:bodyPr anchor="t">
            <a:normAutofit/>
          </a:bodyPr>
          <a:lstStyle/>
          <a:p>
            <a:r>
              <a:rPr lang="en-US" sz="4000" dirty="0"/>
              <a:t>Tableau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Data cleaning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Calculated fields</a:t>
            </a:r>
            <a:endParaRPr lang="en-US" sz="2800" dirty="0"/>
          </a:p>
          <a:p>
            <a:pPr lvl="1"/>
            <a:r>
              <a:rPr lang="en-US" sz="2800" dirty="0">
                <a:ea typeface="+mn-lt"/>
                <a:cs typeface="+mn-lt"/>
              </a:rPr>
              <a:t>Geographic trend analysis</a:t>
            </a:r>
          </a:p>
          <a:p>
            <a:pPr lvl="1"/>
            <a:r>
              <a:rPr lang="en-US" sz="2800" dirty="0">
                <a:ea typeface="+mn-lt"/>
                <a:cs typeface="+mn-lt"/>
              </a:rPr>
              <a:t>Visualization segmenting by drug type</a:t>
            </a:r>
            <a:endParaRPr lang="en-US" sz="2800" b="1" dirty="0"/>
          </a:p>
        </p:txBody>
      </p:sp>
      <p:pic>
        <p:nvPicPr>
          <p:cNvPr id="4" name="Picture 3" descr="What Is Tableau? Data Visualisation Features &amp; Benefits">
            <a:extLst>
              <a:ext uri="{FF2B5EF4-FFF2-40B4-BE49-F238E27FC236}">
                <a16:creationId xmlns:a16="http://schemas.microsoft.com/office/drawing/2014/main" id="{EC4DB473-2373-8125-081F-3AF8210E69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13" r="5298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69424" y="3028872"/>
            <a:ext cx="1559464" cy="6106313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5441" y="-3760"/>
            <a:ext cx="2176557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096000" y="5502302"/>
            <a:ext cx="6106314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26892" y="2939627"/>
            <a:ext cx="3162908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3" name="Audio Recording May 7, 2026 at 7:10:18 PM">
            <a:hlinkClick r:id="" action="ppaction://media"/>
            <a:extLst>
              <a:ext uri="{FF2B5EF4-FFF2-40B4-BE49-F238E27FC236}">
                <a16:creationId xmlns:a16="http://schemas.microsoft.com/office/drawing/2014/main" id="{AC066929-41A5-6407-AF9E-58D1ADB666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8509" y="577563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8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9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59983-90C7-FCAE-E6BE-1F93E690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489" y="2323652"/>
            <a:ext cx="2037905" cy="1223063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STEPS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AF500-542C-4CFF-F443-2A4E1DC0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06" y="666114"/>
            <a:ext cx="7118724" cy="5546047"/>
          </a:xfrm>
        </p:spPr>
        <p:txBody>
          <a:bodyPr anchor="ctr">
            <a:normAutofit/>
          </a:bodyPr>
          <a:lstStyle/>
          <a:p>
            <a:r>
              <a:rPr lang="en-IN" sz="1900" b="1"/>
              <a:t>Step 1 – Data Collection</a:t>
            </a:r>
            <a:endParaRPr lang="en-IN" sz="1900"/>
          </a:p>
          <a:p>
            <a:r>
              <a:rPr lang="en-IN" sz="1900"/>
              <a:t>Medicaid state drug utilization data </a:t>
            </a:r>
          </a:p>
          <a:p>
            <a:r>
              <a:rPr lang="en-IN" sz="1900"/>
              <a:t>2024 state population data </a:t>
            </a:r>
          </a:p>
          <a:p>
            <a:r>
              <a:rPr lang="en-IN" sz="1900"/>
              <a:t>Focused on drug name, state, reimbursement amounts, prescription volume, and units reimbursed </a:t>
            </a:r>
          </a:p>
          <a:p>
            <a:r>
              <a:rPr lang="en-IN" sz="1900" b="1"/>
              <a:t>Step 2 – Data Cleaning in Tableau</a:t>
            </a:r>
            <a:endParaRPr lang="en-IN" sz="1900"/>
          </a:p>
          <a:p>
            <a:r>
              <a:rPr lang="en-IN" sz="1900"/>
              <a:t>Cleaned and organized Medicaid reimbursement data </a:t>
            </a:r>
          </a:p>
          <a:p>
            <a:r>
              <a:rPr lang="en-IN" sz="1900"/>
              <a:t>Checked state-level records and drug-level fields </a:t>
            </a:r>
          </a:p>
          <a:p>
            <a:r>
              <a:rPr lang="en-IN" sz="1900"/>
              <a:t>Changed data types for compatibility with analysis building</a:t>
            </a:r>
          </a:p>
          <a:p>
            <a:r>
              <a:rPr lang="en-IN" sz="1900" b="1"/>
              <a:t>Step 3 – Calculated Fields</a:t>
            </a:r>
            <a:endParaRPr lang="en-IN" sz="1900"/>
          </a:p>
          <a:p>
            <a:r>
              <a:rPr lang="en-IN" sz="1900"/>
              <a:t>Created reimbursement per capita measures </a:t>
            </a:r>
          </a:p>
          <a:p>
            <a:r>
              <a:rPr lang="en-IN" sz="1900"/>
              <a:t>Compared Medicaid and non-Medicaid reimbursement </a:t>
            </a:r>
          </a:p>
          <a:p>
            <a:r>
              <a:rPr lang="en-IN" sz="1900"/>
              <a:t>Used population data to adjust state-level spending comparisons</a:t>
            </a:r>
          </a:p>
          <a:p>
            <a:endParaRPr lang="en-US" sz="1900"/>
          </a:p>
        </p:txBody>
      </p:sp>
      <p:pic>
        <p:nvPicPr>
          <p:cNvPr id="27" name="Audio 26">
            <a:extLst>
              <a:ext uri="{FF2B5EF4-FFF2-40B4-BE49-F238E27FC236}">
                <a16:creationId xmlns:a16="http://schemas.microsoft.com/office/drawing/2014/main" id="{10E113AE-54D4-1B3F-02F0-FC9F7F1BC5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5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37"/>
    </mc:Choice>
    <mc:Fallback xmlns="">
      <p:transition spd="slow" advTm="84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97C4A-3AD7-7925-33ED-2BE620D6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2A8E08-3B70-7EB0-EE79-E515278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E0B330-8D79-82A3-026B-ECF522AC1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0B61B2-718B-4F8E-386E-7A2869DB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0F552B-BFFD-CC0E-A798-A79D4D28C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EE0995-546A-DE37-D800-5F0622FB2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826A718-292B-4F6F-3B79-1DCE25D05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5EF46-28B0-FD15-F705-E9BC872FA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AE6A4-44DD-18B5-044E-A0F9F000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284" y="350186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STEPS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20B4F-0DBF-E4ED-2AA5-90E780B4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010" y="454091"/>
            <a:ext cx="7374315" cy="5970094"/>
          </a:xfrm>
        </p:spPr>
        <p:txBody>
          <a:bodyPr anchor="ctr">
            <a:normAutofit/>
          </a:bodyPr>
          <a:lstStyle/>
          <a:p>
            <a:r>
              <a:rPr lang="en-IN" sz="1900" b="1"/>
              <a:t>Step 4 – Drug-Level Analysis</a:t>
            </a:r>
            <a:endParaRPr lang="en-IN" sz="1900"/>
          </a:p>
          <a:p>
            <a:r>
              <a:rPr lang="en-IN" sz="1900"/>
              <a:t>Identified top drugs by reimbursement per capita </a:t>
            </a:r>
          </a:p>
          <a:p>
            <a:r>
              <a:rPr lang="en-IN" sz="1900"/>
              <a:t>Compared high-cost drugs with commonly reimbursed drugs </a:t>
            </a:r>
          </a:p>
          <a:p>
            <a:r>
              <a:rPr lang="en-IN" sz="1900"/>
              <a:t>Identified drugs creating large financial impact despite lower usage </a:t>
            </a:r>
          </a:p>
          <a:p>
            <a:r>
              <a:rPr lang="en-IN" sz="1900" b="1"/>
              <a:t>Step 5 – State-Level Analysis</a:t>
            </a:r>
            <a:endParaRPr lang="en-IN" sz="1900"/>
          </a:p>
          <a:p>
            <a:r>
              <a:rPr lang="en-IN" sz="1900"/>
              <a:t>Compared reimbursement per capita across states </a:t>
            </a:r>
          </a:p>
          <a:p>
            <a:r>
              <a:rPr lang="en-IN" sz="1900"/>
              <a:t>Mapped geographic variation in Medicaid spending </a:t>
            </a:r>
          </a:p>
          <a:p>
            <a:r>
              <a:rPr lang="en-IN" sz="1900"/>
              <a:t>Compared total reimbursement against 2024 population </a:t>
            </a:r>
          </a:p>
          <a:p>
            <a:r>
              <a:rPr lang="en-IN" sz="1900" b="1"/>
              <a:t>Step 6 – Savings Opportunity Analysis</a:t>
            </a:r>
            <a:endParaRPr lang="en-IN" sz="1900"/>
          </a:p>
          <a:p>
            <a:r>
              <a:rPr lang="en-IN" sz="1900"/>
              <a:t>Used visuals to identify high-cost drugs and high-spending states </a:t>
            </a:r>
          </a:p>
          <a:p>
            <a:r>
              <a:rPr lang="en-IN" sz="1900"/>
              <a:t>Connected findings to possible cost-control strategies </a:t>
            </a:r>
          </a:p>
          <a:p>
            <a:r>
              <a:rPr lang="en-IN" sz="1900"/>
              <a:t>Focused recommendations on targeted drug review and state policy benchmarking </a:t>
            </a:r>
            <a:br>
              <a:rPr lang="en-IN" sz="2000"/>
            </a:br>
            <a:endParaRPr lang="en-IN" sz="2000"/>
          </a:p>
          <a:p>
            <a:endParaRPr lang="en-US" sz="2000" b="1"/>
          </a:p>
          <a:p>
            <a:endParaRPr lang="en-US" sz="1900"/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86F376B1-08C1-2627-AF85-DA5ABCFF7A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02339" y="593599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2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92"/>
    </mc:Choice>
    <mc:Fallback xmlns="">
      <p:transition spd="slow" advTm="910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73FA9-3147-89BC-2CF1-7A9F4361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600" b="1">
                <a:solidFill>
                  <a:srgbClr val="FFFFFF"/>
                </a:solidFill>
                <a:ea typeface="+mj-lt"/>
                <a:cs typeface="+mj-lt"/>
              </a:rPr>
              <a:t>Project Challenges and How We Addressed Them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17232-095D-7856-1AD9-8CAFCBD05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389" y="1001172"/>
            <a:ext cx="5677376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1700"/>
          </a:p>
          <a:p>
            <a:r>
              <a:rPr lang="en-US" sz="1700"/>
              <a:t>Communication amongst groups members </a:t>
            </a:r>
            <a:r>
              <a:rPr lang="en-US" sz="1700">
                <a:sym typeface="Wingdings" pitchFamily="2" charset="2"/>
              </a:rPr>
              <a:t></a:t>
            </a:r>
          </a:p>
          <a:p>
            <a:pPr lvl="1"/>
            <a:r>
              <a:rPr lang="en-US" sz="1700">
                <a:sym typeface="Wingdings" pitchFamily="2" charset="2"/>
              </a:rPr>
              <a:t>Changed mode of communication and struggled during the semester</a:t>
            </a:r>
          </a:p>
          <a:p>
            <a:pPr marL="228600" lvl="1" indent="0">
              <a:buNone/>
            </a:pPr>
            <a:endParaRPr lang="en-US" sz="1700"/>
          </a:p>
          <a:p>
            <a:r>
              <a:rPr lang="en-US" sz="1700"/>
              <a:t>Different pages as to what the project will be </a:t>
            </a:r>
            <a:r>
              <a:rPr lang="en-US" sz="1700">
                <a:sym typeface="Wingdings" pitchFamily="2" charset="2"/>
              </a:rPr>
              <a:t></a:t>
            </a:r>
          </a:p>
          <a:p>
            <a:pPr lvl="1"/>
            <a:r>
              <a:rPr lang="en-US" sz="1700">
                <a:sym typeface="Wingdings" pitchFamily="2" charset="2"/>
              </a:rPr>
              <a:t>Lengthy discussion and counter-ideas</a:t>
            </a:r>
          </a:p>
          <a:p>
            <a:pPr marL="228600" lvl="1" indent="0">
              <a:buNone/>
            </a:pPr>
            <a:endParaRPr lang="en-US" sz="1700"/>
          </a:p>
          <a:p>
            <a:r>
              <a:rPr lang="en-US" sz="1700">
                <a:sym typeface="Wingdings" pitchFamily="2" charset="2"/>
              </a:rPr>
              <a:t>Picking exactly which tools will be used per analysis </a:t>
            </a:r>
          </a:p>
          <a:p>
            <a:pPr lvl="1"/>
            <a:r>
              <a:rPr lang="en-US" sz="1700">
                <a:sym typeface="Wingdings" pitchFamily="2" charset="2"/>
              </a:rPr>
              <a:t>After receiving the feedback, changed from using python to tableau for the analysis</a:t>
            </a:r>
          </a:p>
        </p:txBody>
      </p:sp>
      <p:pic>
        <p:nvPicPr>
          <p:cNvPr id="6" name="Graphic 5" descr="Chat">
            <a:extLst>
              <a:ext uri="{FF2B5EF4-FFF2-40B4-BE49-F238E27FC236}">
                <a16:creationId xmlns:a16="http://schemas.microsoft.com/office/drawing/2014/main" id="{01AE744C-DE05-FF3B-90C2-E9FFEFBFA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339" y="10138"/>
            <a:ext cx="2681200" cy="2681200"/>
          </a:xfrm>
          <a:prstGeom prst="rect">
            <a:avLst/>
          </a:prstGeom>
        </p:spPr>
      </p:pic>
      <p:pic>
        <p:nvPicPr>
          <p:cNvPr id="24" name="Audio 23">
            <a:extLst>
              <a:ext uri="{FF2B5EF4-FFF2-40B4-BE49-F238E27FC236}">
                <a16:creationId xmlns:a16="http://schemas.microsoft.com/office/drawing/2014/main" id="{7A190743-ABD3-AB1F-335E-713E5B9C00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2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633"/>
    </mc:Choice>
    <mc:Fallback xmlns="">
      <p:transition spd="slow" advTm="776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4238-95F2-A766-7447-362216D1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47" y="641252"/>
            <a:ext cx="5000571" cy="895184"/>
          </a:xfrm>
        </p:spPr>
        <p:txBody>
          <a:bodyPr anchor="b">
            <a:normAutofit fontScale="90000"/>
          </a:bodyPr>
          <a:lstStyle/>
          <a:p>
            <a:r>
              <a:rPr lang="en-US"/>
              <a:t>Anticipated Problems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1D7900-8DEB-B543-FE1C-EF7933E8B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316966"/>
              </p:ext>
            </p:extLst>
          </p:nvPr>
        </p:nvGraphicFramePr>
        <p:xfrm>
          <a:off x="597616" y="1868534"/>
          <a:ext cx="10996768" cy="4122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Audio 16">
            <a:extLst>
              <a:ext uri="{FF2B5EF4-FFF2-40B4-BE49-F238E27FC236}">
                <a16:creationId xmlns:a16="http://schemas.microsoft.com/office/drawing/2014/main" id="{32D3D5AF-C947-8B2A-B2D2-33EA542782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831653" y="2348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2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03F03-B2B0-78CA-B62C-3B266103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1024321"/>
            <a:ext cx="5334197" cy="990599"/>
          </a:xfrm>
        </p:spPr>
        <p:txBody>
          <a:bodyPr anchor="ctr">
            <a:normAutofit/>
          </a:bodyPr>
          <a:lstStyle/>
          <a:p>
            <a:r>
              <a:rPr lang="en-GB" sz="4000">
                <a:latin typeface="Roboto"/>
                <a:ea typeface="Roboto"/>
                <a:cs typeface="Roboto"/>
              </a:rPr>
              <a:t>Hypotheses</a:t>
            </a:r>
            <a:endParaRPr lang="en-US" sz="400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08F0BFB0-86E4-5E4E-E3DD-8CCBE17BC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74" y="1371600"/>
            <a:ext cx="11072646" cy="4857593"/>
          </a:xfrm>
        </p:spPr>
        <p:txBody>
          <a:bodyPr anchor="ctr">
            <a:normAutofit/>
          </a:bodyPr>
          <a:lstStyle/>
          <a:p>
            <a:r>
              <a:rPr lang="en-US" sz="1800"/>
              <a:t>A small subset of drugs accounts for a disproportionate share of total Medicaid spending</a:t>
            </a:r>
          </a:p>
          <a:p>
            <a:r>
              <a:rPr lang="en-US" sz="1800"/>
              <a:t>Variation in total spending is primarily driven by either unit price or utilization, depending on the drug category</a:t>
            </a:r>
          </a:p>
          <a:p>
            <a:r>
              <a:rPr lang="en-US" sz="1800"/>
              <a:t>High-cost specialty drugs contribute more to spending concentration despite lower prescription volumes</a:t>
            </a:r>
          </a:p>
          <a:p>
            <a:r>
              <a:rPr lang="en-US" sz="1800"/>
              <a:t>Significant geographic variation exists in Medicaid drug spending across states</a:t>
            </a:r>
          </a:p>
          <a:p>
            <a:r>
              <a:rPr lang="en-US" sz="1800"/>
              <a:t>Differences in state-level spending are influenced by prescribing patterns and reimbursement structures</a:t>
            </a:r>
          </a:p>
          <a:p>
            <a:r>
              <a:rPr lang="en-US" sz="1800"/>
              <a:t>Medicaid drug spending has increased over time, driven by shifts in drug mix and pricing dynamics</a:t>
            </a:r>
          </a:p>
        </p:txBody>
      </p:sp>
      <p:pic>
        <p:nvPicPr>
          <p:cNvPr id="3" name="Audio Recording Apr 12, 2026 at 11:00:04 PM">
            <a:hlinkClick r:id="" action="ppaction://media"/>
            <a:extLst>
              <a:ext uri="{FF2B5EF4-FFF2-40B4-BE49-F238E27FC236}">
                <a16:creationId xmlns:a16="http://schemas.microsoft.com/office/drawing/2014/main" id="{7B60FBA2-7A3A-3E9C-F21A-8B41502A78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99360" y="582279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0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8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7C89E-8B6C-4882-1A14-99E4CF40B7A4}"/>
              </a:ext>
            </a:extLst>
          </p:cNvPr>
          <p:cNvSpPr txBox="1"/>
          <p:nvPr/>
        </p:nvSpPr>
        <p:spPr>
          <a:xfrm>
            <a:off x="233816" y="2074361"/>
            <a:ext cx="339243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Common Reimbursement Units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630F2-39CE-D34B-66A6-698F33E075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9"/>
          <a:stretch>
            <a:fillRect/>
          </a:stretch>
        </p:blipFill>
        <p:spPr>
          <a:xfrm>
            <a:off x="3834461" y="1052945"/>
            <a:ext cx="8123723" cy="4802043"/>
          </a:xfrm>
          <a:prstGeom prst="rect">
            <a:avLst/>
          </a:prstGeom>
        </p:spPr>
      </p:pic>
      <p:pic>
        <p:nvPicPr>
          <p:cNvPr id="6" name="Audio Recording May 8, 2026 at 10:40:36 AM">
            <a:hlinkClick r:id="" action="ppaction://media"/>
            <a:extLst>
              <a:ext uri="{FF2B5EF4-FFF2-40B4-BE49-F238E27FC236}">
                <a16:creationId xmlns:a16="http://schemas.microsoft.com/office/drawing/2014/main" id="{C7F1416D-A7F1-6858-2216-E8E48A452A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89708" y="24014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5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7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634FF-CE74-8827-E532-E1FD6F1E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77" y="2074361"/>
            <a:ext cx="3163560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Reimbursement per Drug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0D7B5F-2EA2-F127-4DF1-5D6562289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32514" y="881291"/>
            <a:ext cx="7930612" cy="5095417"/>
          </a:xfrm>
          <a:prstGeom prst="rect">
            <a:avLst/>
          </a:prstGeom>
        </p:spPr>
      </p:pic>
      <p:pic>
        <p:nvPicPr>
          <p:cNvPr id="5" name="Audio Recording May 7, 2026 at 9:48:26 PM">
            <a:hlinkClick r:id="" action="ppaction://media"/>
            <a:extLst>
              <a:ext uri="{FF2B5EF4-FFF2-40B4-BE49-F238E27FC236}">
                <a16:creationId xmlns:a16="http://schemas.microsoft.com/office/drawing/2014/main" id="{87359CB0-9184-2494-17B9-71DE158355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50326" y="237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1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86E20D-4280-957F-55D0-6FB6CF10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Variation in Medicaid Spending</a:t>
            </a:r>
          </a:p>
        </p:txBody>
      </p:sp>
      <p:pic>
        <p:nvPicPr>
          <p:cNvPr id="3" name="Audio Recording May 7, 2026 at 9:51:35 PM">
            <a:hlinkClick r:id="" action="ppaction://media"/>
            <a:extLst>
              <a:ext uri="{FF2B5EF4-FFF2-40B4-BE49-F238E27FC236}">
                <a16:creationId xmlns:a16="http://schemas.microsoft.com/office/drawing/2014/main" id="{30075F2A-7732-32E4-3536-178D261FFF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09857" y="4728545"/>
            <a:ext cx="812800" cy="8128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E2187B-285E-8DF9-0302-3A08DA7B1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659443" y="1492945"/>
            <a:ext cx="7892477" cy="38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6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9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E0C4C-3D16-EA1B-7555-88C63B29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State Cost Drivers per Capita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FBD8C98-6E21-98DD-1CE4-A21189024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683" y="746560"/>
            <a:ext cx="7689572" cy="5382698"/>
          </a:xfrm>
          <a:prstGeom prst="rect">
            <a:avLst/>
          </a:prstGeom>
        </p:spPr>
      </p:pic>
      <p:pic>
        <p:nvPicPr>
          <p:cNvPr id="3" name="Audio Recording May 7, 2026 at 9:52:54 PM">
            <a:hlinkClick r:id="" action="ppaction://media"/>
            <a:extLst>
              <a:ext uri="{FF2B5EF4-FFF2-40B4-BE49-F238E27FC236}">
                <a16:creationId xmlns:a16="http://schemas.microsoft.com/office/drawing/2014/main" id="{027CA247-E1AE-B489-742C-2618289C59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0041" y="53103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BE0FBB-DE84-3DD9-3964-17B7DE5F5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54216" r="1" b="9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Audio Recording May 7, 2026 at 10:04:16 PM">
            <a:hlinkClick r:id="" action="ppaction://media"/>
            <a:extLst>
              <a:ext uri="{FF2B5EF4-FFF2-40B4-BE49-F238E27FC236}">
                <a16:creationId xmlns:a16="http://schemas.microsoft.com/office/drawing/2014/main" id="{38A4166B-97EA-7629-03ED-0DB104919D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20923" y="5308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530B8-D2CD-55CC-DFD3-E6CCC47C3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Trend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472257-C1E9-0E60-E26A-4329BDF8E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32514" y="430637"/>
            <a:ext cx="7519406" cy="5996726"/>
          </a:xfrm>
          <a:prstGeom prst="rect">
            <a:avLst/>
          </a:prstGeom>
        </p:spPr>
      </p:pic>
      <p:pic>
        <p:nvPicPr>
          <p:cNvPr id="3" name="Audio Recording May 7, 2026 at 10:15:23 PM">
            <a:hlinkClick r:id="" action="ppaction://media"/>
            <a:extLst>
              <a:ext uri="{FF2B5EF4-FFF2-40B4-BE49-F238E27FC236}">
                <a16:creationId xmlns:a16="http://schemas.microsoft.com/office/drawing/2014/main" id="{F99337E0-A294-9336-2D66-47564914C9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9046" y="22438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1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udio Recording May 7, 2026 at 10:17:20 PM">
            <a:hlinkClick r:id="" action="ppaction://media"/>
            <a:extLst>
              <a:ext uri="{FF2B5EF4-FFF2-40B4-BE49-F238E27FC236}">
                <a16:creationId xmlns:a16="http://schemas.microsoft.com/office/drawing/2014/main" id="{C307A4F0-900D-F947-D55C-DAE98DBD5F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66869" y="6192418"/>
            <a:ext cx="376664" cy="37666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7D0002-EF0E-A237-7365-AE9893872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72831" y="288918"/>
            <a:ext cx="10846338" cy="628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9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D9438-60D5-04DD-230E-6CBBE6A3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48DD-68DE-5654-859D-AD418BE9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92" y="1060485"/>
            <a:ext cx="4332315" cy="1788223"/>
          </a:xfrm>
        </p:spPr>
        <p:txBody>
          <a:bodyPr anchor="t">
            <a:normAutofit/>
          </a:bodyPr>
          <a:lstStyle/>
          <a:p>
            <a:r>
              <a:rPr lang="en-US" sz="3200">
                <a:latin typeface="Roboto"/>
                <a:ea typeface="Roboto"/>
                <a:cs typeface="Roboto"/>
              </a:rPr>
              <a:t>Savings: Target High-Cost Drugs</a:t>
            </a:r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BEDE649D-301B-35E9-DA4F-D34B55AC8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929" y="314194"/>
            <a:ext cx="4332315" cy="278351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76CF40-FB79-A858-6793-667FAB0ED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109869"/>
              </p:ext>
            </p:extLst>
          </p:nvPr>
        </p:nvGraphicFramePr>
        <p:xfrm>
          <a:off x="545411" y="3414105"/>
          <a:ext cx="11101178" cy="3007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Audio Recording May 7, 2026 at 11:24:56 PM">
            <a:hlinkClick r:id="" action="ppaction://media"/>
            <a:extLst>
              <a:ext uri="{FF2B5EF4-FFF2-40B4-BE49-F238E27FC236}">
                <a16:creationId xmlns:a16="http://schemas.microsoft.com/office/drawing/2014/main" id="{FE7560BB-C0FB-DDCB-D9B8-AFEF5EA730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120072" y="24768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D02C3-209F-EEDC-47DA-EADE59AF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08" y="2609628"/>
            <a:ext cx="3201366" cy="1618463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  <a:ea typeface="+mj-lt"/>
                <a:cs typeface="+mj-lt"/>
              </a:rPr>
              <a:t>Savings: Policies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CD0EA-978A-D6BC-7C46-C8653415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200" dirty="0"/>
              <a:t>New York, Kentucky, Connecticut, Louisiana, and West Virginia are the top 5 highest Medicaid spenders per capita in the nation</a:t>
            </a:r>
          </a:p>
          <a:p>
            <a:r>
              <a:rPr lang="en-US" sz="2200" dirty="0"/>
              <a:t>Per capita analysis reveals that smaller states like Kentucky, West Virginia, and Louisiana are carrying costs far out of proportion to their population size</a:t>
            </a:r>
          </a:p>
          <a:p>
            <a:r>
              <a:rPr lang="en-US" sz="2200" dirty="0"/>
              <a:t>Strengthening oversight of the private health plans managing Medicaid benefits in these states can create accountability for overall spending patterns</a:t>
            </a:r>
          </a:p>
          <a:p>
            <a:r>
              <a:rPr lang="en-US" sz="2200" dirty="0"/>
              <a:t>State-level policy changes, including managed care reforms and drug utilization review programs</a:t>
            </a:r>
          </a:p>
        </p:txBody>
      </p:sp>
      <p:pic>
        <p:nvPicPr>
          <p:cNvPr id="3" name="Audio Recording May 7, 2026 at 11:33:45 PM">
            <a:hlinkClick r:id="" action="ppaction://media"/>
            <a:extLst>
              <a:ext uri="{FF2B5EF4-FFF2-40B4-BE49-F238E27FC236}">
                <a16:creationId xmlns:a16="http://schemas.microsoft.com/office/drawing/2014/main" id="{4135514A-03BE-339C-2E24-071489E25E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90668" y="23294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7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BC312-8923-DE3D-A3AD-8BB9EDBC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808B-FCF6-D096-8F5F-5512E2DE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126"/>
            <a:ext cx="10515600" cy="8734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4000">
                <a:ea typeface="+mj-lt"/>
                <a:cs typeface="+mj-lt"/>
              </a:rPr>
              <a:t>Strategic Implications of Medicaid Analysis</a:t>
            </a:r>
            <a:endParaRPr lang="en-GB" sz="4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2233C-30FF-2E0C-DDFC-0106F011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5370" y="1493934"/>
            <a:ext cx="5157787" cy="823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rgbClr val="000000"/>
                </a:solidFill>
              </a:rPr>
              <a:t>Trends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D1D375-3B2A-7258-D602-C2C16F222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9546" y="1493934"/>
            <a:ext cx="5183188" cy="823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Strategies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A34BD9-DB76-66B8-ABEB-E032C8591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9546" y="2471630"/>
            <a:ext cx="5183188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/>
              <a:t>Prioritize rebate negotiation and prior authorization on top drugs</a:t>
            </a:r>
            <a:endParaRPr lang="en-US" sz="2000">
              <a:ea typeface="+mn-lt"/>
              <a:cs typeface="+mn-lt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86256D6-6F3F-FA51-D77E-FFF25E1AB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5371" y="2471630"/>
            <a:ext cx="5157787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2000"/>
              <a:t>A few specialty drugs drive the majority of Medicaid spend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61E9443D-5C7D-54C1-BC7D-72C9908EDDD9}"/>
              </a:ext>
            </a:extLst>
          </p:cNvPr>
          <p:cNvSpPr txBox="1">
            <a:spLocks/>
          </p:cNvSpPr>
          <p:nvPr/>
        </p:nvSpPr>
        <p:spPr>
          <a:xfrm>
            <a:off x="825370" y="3420654"/>
            <a:ext cx="5157787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High-volume drugs are low-cost generics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BDEAC5A-3F19-B10A-27B5-AAC0F70EEF56}"/>
              </a:ext>
            </a:extLst>
          </p:cNvPr>
          <p:cNvSpPr txBox="1">
            <a:spLocks/>
          </p:cNvSpPr>
          <p:nvPr/>
        </p:nvSpPr>
        <p:spPr>
          <a:xfrm>
            <a:off x="6149546" y="3420654"/>
            <a:ext cx="5183188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ea typeface="+mn-lt"/>
                <a:cs typeface="+mn-lt"/>
              </a:rPr>
              <a:t>Target drug cost, not prescription volume</a:t>
            </a:r>
            <a:endParaRPr lang="en-US" sz="2000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6760637D-E087-9110-F8EF-E2A8D484431C}"/>
              </a:ext>
            </a:extLst>
          </p:cNvPr>
          <p:cNvSpPr txBox="1">
            <a:spLocks/>
          </p:cNvSpPr>
          <p:nvPr/>
        </p:nvSpPr>
        <p:spPr>
          <a:xfrm>
            <a:off x="825370" y="4379652"/>
            <a:ext cx="5157787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Medicaid bears nearly all costs with minimal cost sharing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AC5A1222-0DF7-FC76-00D6-EACB9F088F4B}"/>
              </a:ext>
            </a:extLst>
          </p:cNvPr>
          <p:cNvSpPr txBox="1">
            <a:spLocks/>
          </p:cNvSpPr>
          <p:nvPr/>
        </p:nvSpPr>
        <p:spPr>
          <a:xfrm>
            <a:off x="6149546" y="4368339"/>
            <a:ext cx="5183188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ea typeface="+mn-lt"/>
                <a:cs typeface="+mn-lt"/>
              </a:rPr>
              <a:t>Pursue supplemental rebates and payer mix strategies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D03B492D-ED51-7BB2-8F57-11EAC0C71C94}"/>
              </a:ext>
            </a:extLst>
          </p:cNvPr>
          <p:cNvSpPr txBox="1">
            <a:spLocks/>
          </p:cNvSpPr>
          <p:nvPr/>
        </p:nvSpPr>
        <p:spPr>
          <a:xfrm>
            <a:off x="825370" y="5338650"/>
            <a:ext cx="5157787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A handful of states spend far above the national per capita average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AF39D8A5-C6C9-00E4-D2CC-8EA4B5112D67}"/>
              </a:ext>
            </a:extLst>
          </p:cNvPr>
          <p:cNvSpPr txBox="1">
            <a:spLocks/>
          </p:cNvSpPr>
          <p:nvPr/>
        </p:nvSpPr>
        <p:spPr>
          <a:xfrm>
            <a:off x="6149546" y="5329945"/>
            <a:ext cx="5183188" cy="8734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ea typeface="+mn-lt"/>
                <a:cs typeface="+mn-lt"/>
              </a:rPr>
              <a:t>Apply state-level policy interventions where return of savings is highest</a:t>
            </a:r>
          </a:p>
        </p:txBody>
      </p:sp>
      <p:pic>
        <p:nvPicPr>
          <p:cNvPr id="3" name="Audio Recording May 7, 2026 at 11:44:39 PM">
            <a:hlinkClick r:id="" action="ppaction://media"/>
            <a:extLst>
              <a:ext uri="{FF2B5EF4-FFF2-40B4-BE49-F238E27FC236}">
                <a16:creationId xmlns:a16="http://schemas.microsoft.com/office/drawing/2014/main" id="{C9F23837-D3C7-75E9-AB48-FCD55F77AE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8970" y="23194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5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3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F31CB-7E4D-7CFA-E522-9274146A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Its Important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641770-EA17-D475-291E-D9927F57D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61637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Audio Recording May 7, 2026 at 11:48:02 PM">
            <a:hlinkClick r:id="" action="ppaction://media"/>
            <a:extLst>
              <a:ext uri="{FF2B5EF4-FFF2-40B4-BE49-F238E27FC236}">
                <a16:creationId xmlns:a16="http://schemas.microsoft.com/office/drawing/2014/main" id="{306148F1-335D-FEBC-C4E0-71C2221929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01675" y="27221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7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B1F06-5E88-F977-B7B8-46C12D2D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9" y="236925"/>
            <a:ext cx="5334197" cy="1708242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Conclusion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7555CC-8041-1124-8A57-9E917D46A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489" y="1254246"/>
            <a:ext cx="5334197" cy="47431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Arial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  <a:cs typeface="Arial"/>
              </a:rPr>
              <a:t>Medicaid pharmaceutical spending is concentrated among specific </a:t>
            </a:r>
            <a:r>
              <a:rPr lang="en-US" altLang="en-US" sz="2000" dirty="0">
                <a:latin typeface="Aptos Display" panose="020B0004020202020204" pitchFamily="34" charset="0"/>
                <a:cs typeface="Arial"/>
              </a:rPr>
              <a:t>high-cost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  <a:cs typeface="Arial"/>
              </a:rPr>
              <a:t> drugs and </a:t>
            </a:r>
            <a:r>
              <a:rPr lang="en-US" altLang="en-US" sz="2000" dirty="0">
                <a:latin typeface="Aptos Display" panose="020B0004020202020204" pitchFamily="34" charset="0"/>
                <a:cs typeface="Arial"/>
              </a:rPr>
              <a:t>high spending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  <a:cs typeface="Arial"/>
              </a:rPr>
              <a:t> states 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ptos Display" panose="020B0004020202020204" pitchFamily="34" charset="0"/>
              <a:cs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Arial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  <a:cs typeface="Arial"/>
              </a:rPr>
              <a:t>The strongest savings opportunities are targeted drug review, rebate negotiation, prior authorization, and </a:t>
            </a:r>
            <a:r>
              <a:rPr lang="en-US" altLang="en-US" sz="2000" dirty="0">
                <a:latin typeface="Aptos Display" panose="020B0004020202020204" pitchFamily="34" charset="0"/>
                <a:cs typeface="Arial"/>
              </a:rPr>
              <a:t>state level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  <a:cs typeface="Arial"/>
              </a:rPr>
              <a:t> policy reform 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ptos Display" panose="020B0004020202020204" pitchFamily="34" charset="0"/>
              <a:cs typeface="Arial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  <a:cs typeface="Arial"/>
              </a:rPr>
              <a:t>Medicaid can reduce cost pressure more effectively by focusing on the areas with the greatest financial impact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ptos Display" panose="020B0004020202020204" pitchFamily="34" charset="0"/>
              <a:cs typeface="Arial"/>
            </a:endParaRPr>
          </a:p>
        </p:txBody>
      </p:sp>
      <p:pic>
        <p:nvPicPr>
          <p:cNvPr id="6" name="Picture 5" descr="Close-up unopened pill packets">
            <a:extLst>
              <a:ext uri="{FF2B5EF4-FFF2-40B4-BE49-F238E27FC236}">
                <a16:creationId xmlns:a16="http://schemas.microsoft.com/office/drawing/2014/main" id="{54E1971C-F0F9-EDE3-C701-18C2007900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50" r="24369" b="-8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Audio Recording May 7, 2026 at 11:59:25 PM">
            <a:hlinkClick r:id="" action="ppaction://media"/>
            <a:extLst>
              <a:ext uri="{FF2B5EF4-FFF2-40B4-BE49-F238E27FC236}">
                <a16:creationId xmlns:a16="http://schemas.microsoft.com/office/drawing/2014/main" id="{6720A86B-4348-4A79-A243-0AD2CF0643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4906" y="454209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9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5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965</Words>
  <Application>Microsoft Macintosh PowerPoint</Application>
  <PresentationFormat>Widescreen</PresentationFormat>
  <Paragraphs>138</Paragraphs>
  <Slides>25</Slides>
  <Notes>4</Notes>
  <HiddenSlides>0</HiddenSlides>
  <MMClips>25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Neue Haas Grotesk Text Pro</vt:lpstr>
      <vt:lpstr>Roboto</vt:lpstr>
      <vt:lpstr>Wingdings</vt:lpstr>
      <vt:lpstr>Office Theme</vt:lpstr>
      <vt:lpstr>Medicaid Analysis</vt:lpstr>
      <vt:lpstr>Team Introduction</vt:lpstr>
      <vt:lpstr>Team Introduction</vt:lpstr>
      <vt:lpstr>Team Introduction</vt:lpstr>
      <vt:lpstr>Organization Introduction</vt:lpstr>
      <vt:lpstr>Problem to Solve</vt:lpstr>
      <vt:lpstr>Data Sources</vt:lpstr>
      <vt:lpstr>Data Tools</vt:lpstr>
      <vt:lpstr>STEPS</vt:lpstr>
      <vt:lpstr>STEPS</vt:lpstr>
      <vt:lpstr>Project Challenges and How We Addressed Them</vt:lpstr>
      <vt:lpstr>Anticipated Problems</vt:lpstr>
      <vt:lpstr>Hypotheses</vt:lpstr>
      <vt:lpstr>PowerPoint Presentation</vt:lpstr>
      <vt:lpstr>Cost Reimbursement per Drug</vt:lpstr>
      <vt:lpstr>Variation in Medicaid Spending</vt:lpstr>
      <vt:lpstr>State Cost Drivers per Capita</vt:lpstr>
      <vt:lpstr>PowerPoint Presentation</vt:lpstr>
      <vt:lpstr>Trend</vt:lpstr>
      <vt:lpstr>PowerPoint Presentation</vt:lpstr>
      <vt:lpstr>Savings: Target High-Cost Drugs</vt:lpstr>
      <vt:lpstr>Savings: Policies</vt:lpstr>
      <vt:lpstr>Strategic Implications of Medicaid Analysis</vt:lpstr>
      <vt:lpstr>Why Its Important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Anita Babic (Student)</dc:creator>
  <cp:lastModifiedBy>Anita Babic (Student)</cp:lastModifiedBy>
  <cp:revision>6</cp:revision>
  <dcterms:created xsi:type="dcterms:W3CDTF">2026-04-12T20:16:38Z</dcterms:created>
  <dcterms:modified xsi:type="dcterms:W3CDTF">2026-05-09T01:22:17Z</dcterms:modified>
</cp:coreProperties>
</file>